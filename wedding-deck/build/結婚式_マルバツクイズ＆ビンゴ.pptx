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media/media3.mp3" ContentType="audio/mpeg"/>
  <Override PartName="/ppt/media/media4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【第1問】正解：○</a:t>
            </a:r>
          </a:p>
          <a:p>
            <a:r>
              <a:t>① 問題を読み上げる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正解の赤枠が点滅＋効果音、解説が出ます</a:t>
            </a:r>
          </a:p>
          <a:p/>
          <a:p>
            <a:r>
              <a:t>ライト目の1問目。お名前の表記（漢字・読み）だけご確認ください。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【第2問】正解：○</a:t>
            </a:r>
          </a:p>
          <a:p>
            <a:r>
              <a:t>① 問題を読み上げる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正解の赤枠が点滅＋効果音、解説が出ます</a:t>
            </a:r>
          </a:p>
          <a:p/>
          <a:p>
            <a:r>
              <a:t>{{台風番号}} を当日の号数に差し替えてください。×の問題にしたい場合は、わざと違う号数を入れて赤枠を×側へ動かしてください。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【第3問】正解：○</a:t>
            </a:r>
          </a:p>
          <a:p>
            <a:r>
              <a:t>① 問題を読み上げる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正解の赤枠が点滅＋効果音、解説が出ます</a:t>
            </a:r>
          </a:p>
          <a:p/>
          <a:p>
            <a:r>
              <a:t>答えはお二人しか分かりません。当日の空気を見て○か×かを決め、○のままでよければ赤枠はそのまま、×にするなら赤枠を×側へ動かしてください。やわらげたい場合は『新郎新婦が最後にハグしたのは1週間以内である』でも同じ構成で使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【第4問】正解：○</a:t>
            </a:r>
          </a:p>
          <a:p>
            <a:r>
              <a:t>① 問題を読み上げる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正解の赤枠が点滅＋効果音、解説が出ます</a:t>
            </a:r>
          </a:p>
          <a:p/>
          <a:p>
            <a:r>
              <a:t>元ネタ：初デートで新郎がやらかした失敗＝待ち合わせに1時間遅刻。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【第5問】正解：×</a:t>
            </a:r>
          </a:p>
          <a:p>
            <a:r>
              <a:t>① 問題を読み上げる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正解の赤枠が点滅＋効果音、解説が出ます</a:t>
            </a:r>
          </a:p>
          <a:p/>
          <a:p>
            <a:r>
              <a:t>ダミー選択肢（いびき）を出題文に使った×問題。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【第6問】正解：○</a:t>
            </a:r>
          </a:p>
          <a:p>
            <a:r>
              <a:t>① 問題を読み上げる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正解の赤枠が点滅＋効果音、解説が出ます</a:t>
            </a:r>
          </a:p>
          <a:p/>
          <a:p>
            <a:r>
              <a:t>元ネタ：喧嘩したとき新郎が必ずすること＝コンビニでアイスを買ってくる。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【第7問】正解：×</a:t>
            </a:r>
          </a:p>
          <a:p>
            <a:r>
              <a:t>① 問題を読み上げる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正解の赤枠が点滅＋効果音、解説が出ます</a:t>
            </a:r>
          </a:p>
          <a:p/>
          <a:p>
            <a:r>
              <a:t>ダミー選択肢（生姜焼き）を出題文に使った×問題。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【第8問】正解：○</a:t>
            </a:r>
          </a:p>
          <a:p>
            <a:r>
              <a:t>① 問題を読み上げる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正解の赤枠が点滅＋効果音、解説が出ます</a:t>
            </a:r>
          </a:p>
          <a:p/>
          <a:p>
            <a:r>
              <a:t>AI生成写真あてクイズ。○側＝本物（口が開いている幼少期／カルピス）、×側＝AI生成（口が閉じている幼少期／ワイン。背景のポスターの文字が崩れています）。左右を入れ替えたい場合は content.py の PHOTO4 の並びを入れ替えて、赤枠も反対側へ。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【第9問】正解：○</a:t>
            </a:r>
          </a:p>
          <a:p>
            <a:r>
              <a:t>① 問題を読み上げる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正解の赤枠が点滅＋効果音、解説が出ます</a:t>
            </a:r>
          </a:p>
          <a:p/>
          <a:p>
            <a:r>
              <a:t>元ネタ：入籍前にやらかしたエピソード＝新郎が社員旅行で左手薬指を負傷。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【第10問】正解：×</a:t>
            </a:r>
          </a:p>
          <a:p>
            <a:r>
              <a:t>① 問題を読み上げる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正解の赤枠が点滅＋効果音、解説が出ます</a:t>
            </a:r>
          </a:p>
          <a:p/>
          <a:p>
            <a:r>
              <a:t>ダミー選択肢（VIVANT）を出題文に使った×問題。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【第11問】正解：×</a:t>
            </a:r>
          </a:p>
          <a:p>
            <a:r>
              <a:t>① 問題を読み上げる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正解の赤枠が点滅＋効果音、解説が出ます</a:t>
            </a:r>
          </a:p>
          <a:p/>
          <a:p>
            <a:r>
              <a:t>ダミー選択肢（目覚まし）を出題文に使った×問題。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【第12問】正解：×</a:t>
            </a:r>
          </a:p>
          <a:p>
            <a:r>
              <a:t>① 問題を読み上げる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正解の赤枠が点滅＋効果音、解説が出ます</a:t>
            </a:r>
          </a:p>
          <a:p/>
          <a:p>
            <a:r>
              <a:t>ダミー選択肢（新しい趣味）を出題文に使った×問題。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【第13問】正解：○</a:t>
            </a:r>
          </a:p>
          <a:p>
            <a:r>
              <a:t>① 問題を読み上げる</a:t>
            </a:r>
          </a:p>
          <a:p>
            <a:r>
              <a:t>② クリック → 10秒カウントダウン（BGMが鳴ります）。会場の皆さまに移動していただく</a:t>
            </a:r>
          </a:p>
          <a:p>
            <a:r>
              <a:t>③ クリック → 正解の赤枠が点滅＋効果音、解説が出ます</a:t>
            </a:r>
          </a:p>
          <a:p/>
          <a:p>
            <a:r>
              <a:t>ご指定の最終問題。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{{優勝者のお名前}} を当日その場で入力するか、口頭で読み上げてください。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スライドを表示した瞬間にBGMが自動再生されます（クリック不要）。</a:t>
            </a:r>
          </a:p>
          <a:p>
            <a:r>
              <a:t>※ 今入っているのは無音のダミー音源です。本番までに差し替えが必要です。</a:t>
            </a:r>
          </a:p>
          <a:p/>
          <a:p>
            <a:r>
              <a:t>【音源の差し替え手順】</a:t>
            </a:r>
          </a:p>
          <a:p>
            <a:r>
              <a:t>1. スライドの左外（グレー部分）にあるスピーカーアイコンを選択して削除</a:t>
            </a:r>
          </a:p>
          <a:p>
            <a:r>
              <a:t>2. [挿入]→[オーディオ]→[このコンピューター上のオーディオ] でインスト音源を挿入</a:t>
            </a:r>
          </a:p>
          <a:p>
            <a:r>
              <a:t>3. 挿入したスピーカーアイコンをスライドの外へドラッグして見えない位置に移動</a:t>
            </a:r>
          </a:p>
          <a:p>
            <a:r>
              <a:t>4. 音声を選択 →[再生]タブ→[開始]を「自動」にする</a:t>
            </a:r>
          </a:p>
          <a:p>
            <a:r>
              <a:t>   （複数スライドにまたがって流したい場合は「スライド切り替え後も再生」にチェック）</a:t>
            </a:r>
          </a:p>
          <a:p/>
          <a:p>
            <a:r>
              <a:t>※ 楽曲そのものはこちらではダウンロードできません（著作権のため）。</a:t>
            </a:r>
          </a:p>
          <a:p>
            <a:r>
              <a:t>　 音源をお送りいただければ、この作業込みで組み込んだものをお渡しします。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スライドを表示すると自動で「ドラムロール」が鳴ります。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スライドを表示すると自動で「ファンファーレ」が鳴ります。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スライドを表示すると自動で「ドラムロール」が鳴ります。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スライドを表示すると自動で「ファンファーレ」が鳴ります。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microsoft.com/office/2007/relationships/media" Target="../media/media1.mp3"/><Relationship Id="rId7" Type="http://schemas.openxmlformats.org/officeDocument/2006/relationships/audio" Target="../media/media1.mp3"/><Relationship Id="rId8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microsoft.com/office/2007/relationships/media" Target="../media/media1.mp3"/><Relationship Id="rId7" Type="http://schemas.openxmlformats.org/officeDocument/2006/relationships/audio" Target="../media/media1.mp3"/><Relationship Id="rId8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microsoft.com/office/2007/relationships/media" Target="../media/media1.mp3"/><Relationship Id="rId7" Type="http://schemas.openxmlformats.org/officeDocument/2006/relationships/audio" Target="../media/media1.mp3"/><Relationship Id="rId8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microsoft.com/office/2007/relationships/media" Target="../media/media1.mp3"/><Relationship Id="rId7" Type="http://schemas.openxmlformats.org/officeDocument/2006/relationships/audio" Target="../media/media1.mp3"/><Relationship Id="rId8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microsoft.com/office/2007/relationships/media" Target="../media/media1.mp3"/><Relationship Id="rId7" Type="http://schemas.openxmlformats.org/officeDocument/2006/relationships/audio" Target="../media/media1.mp3"/><Relationship Id="rId8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microsoft.com/office/2007/relationships/media" Target="../media/media1.mp3"/><Relationship Id="rId7" Type="http://schemas.openxmlformats.org/officeDocument/2006/relationships/audio" Target="../media/media1.mp3"/><Relationship Id="rId8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microsoft.com/office/2007/relationships/media" Target="../media/media1.mp3"/><Relationship Id="rId7" Type="http://schemas.openxmlformats.org/officeDocument/2006/relationships/audio" Target="../media/media1.mp3"/><Relationship Id="rId8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jpg"/><Relationship Id="rId7" Type="http://schemas.microsoft.com/office/2007/relationships/media" Target="../media/media2.mp3"/><Relationship Id="rId8" Type="http://schemas.openxmlformats.org/officeDocument/2006/relationships/audio" Target="../media/media2.mp3"/><Relationship Id="rId9" Type="http://schemas.openxmlformats.org/officeDocument/2006/relationships/image" Target="../media/image4.png"/><Relationship Id="rId10" Type="http://schemas.microsoft.com/office/2007/relationships/media" Target="../media/media1.mp3"/><Relationship Id="rId11" Type="http://schemas.openxmlformats.org/officeDocument/2006/relationships/audio" Target="../media/media1.mp3"/><Relationship Id="rId1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microsoft.com/office/2007/relationships/media" Target="../media/media1.mp3"/><Relationship Id="rId7" Type="http://schemas.openxmlformats.org/officeDocument/2006/relationships/audio" Target="../media/media1.mp3"/><Relationship Id="rId8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microsoft.com/office/2007/relationships/media" Target="../media/media1.mp3"/><Relationship Id="rId7" Type="http://schemas.openxmlformats.org/officeDocument/2006/relationships/audio" Target="../media/media1.mp3"/><Relationship Id="rId8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microsoft.com/office/2007/relationships/media" Target="../media/media1.mp3"/><Relationship Id="rId7" Type="http://schemas.openxmlformats.org/officeDocument/2006/relationships/audio" Target="../media/media1.mp3"/><Relationship Id="rId8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microsoft.com/office/2007/relationships/media" Target="../media/media1.mp3"/><Relationship Id="rId7" Type="http://schemas.openxmlformats.org/officeDocument/2006/relationships/audio" Target="../media/media1.mp3"/><Relationship Id="rId8" Type="http://schemas.openxmlformats.org/officeDocument/2006/relationships/notesSlide" Target="../notesSlides/notesSlide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microsoft.com/office/2007/relationships/media" Target="../media/media2.mp3"/><Relationship Id="rId4" Type="http://schemas.openxmlformats.org/officeDocument/2006/relationships/audio" Target="../media/media2.mp3"/><Relationship Id="rId5" Type="http://schemas.openxmlformats.org/officeDocument/2006/relationships/image" Target="../media/image4.png"/><Relationship Id="rId6" Type="http://schemas.microsoft.com/office/2007/relationships/media" Target="../media/media1.mp3"/><Relationship Id="rId7" Type="http://schemas.openxmlformats.org/officeDocument/2006/relationships/audio" Target="../media/media1.mp3"/><Relationship Id="rId8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3.mp3"/><Relationship Id="rId4" Type="http://schemas.openxmlformats.org/officeDocument/2006/relationships/audio" Target="../media/media3.mp3"/><Relationship Id="rId5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4.mp3"/><Relationship Id="rId4" Type="http://schemas.openxmlformats.org/officeDocument/2006/relationships/audio" Target="../media/media4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microsoft.com/office/2007/relationships/media" Target="../media/media3.mp3"/><Relationship Id="rId4" Type="http://schemas.openxmlformats.org/officeDocument/2006/relationships/audio" Target="../media/media3.mp3"/><Relationship Id="rId5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3.mp3"/><Relationship Id="rId4" Type="http://schemas.openxmlformats.org/officeDocument/2006/relationships/audio" Target="../media/media3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3.mp3"/><Relationship Id="rId4" Type="http://schemas.openxmlformats.org/officeDocument/2006/relationships/audio" Target="../media/media3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microsoft.com/office/2007/relationships/media" Target="../media/media1.mp3"/><Relationship Id="rId4" Type="http://schemas.openxmlformats.org/officeDocument/2006/relationships/audio" Target="../media/media1.mp3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1500000"/>
            <a:ext cx="10392000" cy="9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 lang="ja-JP" altLang="en-US">
                <a:solidFill>
                  <a:srgbClr val="C9A227"/>
                </a:solidFill>
                <a:latin typeface="Meiryo"/>
              </a:rPr>
              <a:t>新郎新婦のことどれだけ知ってる？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400000"/>
            <a:ext cx="10392000" cy="16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800" b="1" lang="ja-JP" altLang="en-US">
                <a:solidFill>
                  <a:srgbClr val="962C42"/>
                </a:solidFill>
                <a:latin typeface="Meiryo"/>
              </a:rPr>
              <a:t>○× クイズ大会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4200000"/>
            <a:ext cx="10392000" cy="9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800" b="1" lang="ja-JP" altLang="en-US">
                <a:solidFill>
                  <a:srgbClr val="3A2E2A"/>
                </a:solidFill>
                <a:latin typeface="Meiryo"/>
              </a:rPr>
              <a:t>→ 中村になろうよ → ビンゴ大会 🎉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ルール説明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今日のクイズは ○×クイズ！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9600000" cy="34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・司会が読み上げる問題に、○か×かでお答えください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・正解だと思う方へ、会場を移動していただきます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・全13問！　最後まで勝ち残った方は…？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ルール説明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移動のしかた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2600000"/>
            <a:ext cx="4250000" cy="23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2700000" y="2725000"/>
            <a:ext cx="1150000" cy="115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418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100" b="1" lang="ja-JP" altLang="en-US">
                <a:solidFill>
                  <a:srgbClr val="3A2E2A"/>
                </a:solidFill>
                <a:latin typeface="Meiryo"/>
              </a:rPr>
              <a:t>← 画面に向かって 左 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2000" y="2600000"/>
            <a:ext cx="4250000" cy="23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376500" y="3185000"/>
            <a:ext cx="1081000" cy="23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8100000">
            <a:off x="8376500" y="3185000"/>
            <a:ext cx="1081000" cy="23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2000" y="418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100" b="1" lang="ja-JP" altLang="en-US">
                <a:solidFill>
                  <a:srgbClr val="3A2E2A"/>
                </a:solidFill>
                <a:latin typeface="Meiryo"/>
              </a:rPr>
              <a:t>画面に向かって 右 へ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150000"/>
            <a:ext cx="10392000" cy="7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800" b="1" lang="ja-JP" altLang="en-US">
                <a:solidFill>
                  <a:srgbClr val="3A2E2A"/>
                </a:solidFill>
                <a:latin typeface="Meiryo"/>
              </a:rPr>
              <a:t>※ 迷ったときは、まわりの流れに乗ってしまってOKです🙆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ルール説明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大切なお願い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9600000" cy="34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・カウントダウン10秒のあいだに移動を完了してください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・0になったら移動はストップ！🙅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・新郎新婦に答えを聞くのはナシでお願いします😉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・足元にお気をつけて、ゆっくり移動してくださいね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2150000"/>
            <a:ext cx="10392000" cy="14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5600" b="1" lang="ja-JP" altLang="en-US">
                <a:solidFill>
                  <a:srgbClr val="FFFFFF"/>
                </a:solidFill>
                <a:latin typeface="Meiryo"/>
              </a:rPr>
              <a:t>○×クイズ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750000"/>
            <a:ext cx="10392000" cy="7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 lang="ja-JP" altLang="en-US">
                <a:solidFill>
                  <a:srgbClr val="F6DFC8"/>
                </a:solidFill>
                <a:latin typeface="Meiryo"/>
              </a:rPr>
              <a:t>さあ、スタートです！</a:t>
            </a:r>
          </a:p>
        </p:txBody>
      </p:sp>
      <p:pic>
        <p:nvPicPr>
          <p:cNvPr id="5" name="セクション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1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今日の披露宴の司会は</a:t>
            </a:r>
          </a:p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『森月子』さんである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2775000" y="3440000"/>
            <a:ext cx="1000000" cy="100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左 へ移動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2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81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2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右 へ移動</a:t>
            </a:r>
          </a:p>
        </p:txBody>
      </p:sp>
      <p:sp>
        <p:nvSpPr>
          <p:cNvPr id="12" name="Oval 11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0000" y="3190000"/>
            <a:ext cx="4470000" cy="2270000"/>
          </a:xfrm>
          <a:prstGeom prst="roundRect">
            <a:avLst>
              <a:gd name="adj" fmla="val 12000"/>
            </a:avLst>
          </a:prstGeom>
          <a:noFill/>
          <a:ln w="952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0000" y="5550000"/>
            <a:ext cx="9892000" cy="90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eiryo"/>
              </a:rPr>
              <a:t>正解は ○ ！ 司会は森月子さんです🎤 今日はよろしくお願いします！</a:t>
            </a:r>
          </a:p>
        </p:txBody>
      </p:sp>
      <p:pic>
        <p:nvPicPr>
          <p:cNvPr id="26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pic>
        <p:nvPicPr>
          <p:cNvPr id="27" name="正解発表効果音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4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269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2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今日、日本に直撃している台風は</a:t>
            </a:r>
          </a:p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『{{台風番号}}号』である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2775000" y="3440000"/>
            <a:ext cx="1000000" cy="100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左 へ移動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2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81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2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右 へ移動</a:t>
            </a:r>
          </a:p>
        </p:txBody>
      </p:sp>
      <p:sp>
        <p:nvSpPr>
          <p:cNvPr id="12" name="Oval 11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0000" y="3190000"/>
            <a:ext cx="4470000" cy="2270000"/>
          </a:xfrm>
          <a:prstGeom prst="roundRect">
            <a:avLst>
              <a:gd name="adj" fmla="val 12000"/>
            </a:avLst>
          </a:prstGeom>
          <a:noFill/>
          <a:ln w="952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0000" y="5550000"/>
            <a:ext cx="9892000" cy="90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eiryo"/>
              </a:rPr>
              <a:t>正解は ○ ！ 台風{{台風番号}}号です。こんな日にお越しいただきありがとうございます☔</a:t>
            </a:r>
          </a:p>
        </p:txBody>
      </p:sp>
      <p:pic>
        <p:nvPicPr>
          <p:cNvPr id="26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pic>
        <p:nvPicPr>
          <p:cNvPr id="27" name="正解発表効果音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4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269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3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新郎新婦が1番最近SEXしたのは</a:t>
            </a:r>
          </a:p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1週間以内である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2775000" y="3440000"/>
            <a:ext cx="1000000" cy="100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左 へ移動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2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81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2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右 へ移動</a:t>
            </a:r>
          </a:p>
        </p:txBody>
      </p:sp>
      <p:sp>
        <p:nvSpPr>
          <p:cNvPr id="12" name="Oval 11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0000" y="3190000"/>
            <a:ext cx="4470000" cy="2270000"/>
          </a:xfrm>
          <a:prstGeom prst="roundRect">
            <a:avLst>
              <a:gd name="adj" fmla="val 12000"/>
            </a:avLst>
          </a:prstGeom>
          <a:noFill/>
          <a:ln w="952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0000" y="5550000"/>
            <a:ext cx="9892000" cy="90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eiryo"/>
              </a:rPr>
              <a:t>正解は {{○ / ×}} ！ {{ひとことコメント}}</a:t>
            </a:r>
          </a:p>
        </p:txBody>
      </p:sp>
      <p:pic>
        <p:nvPicPr>
          <p:cNvPr id="26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pic>
        <p:nvPicPr>
          <p:cNvPr id="27" name="正解発表効果音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4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269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4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初めてのデートで、新郎は</a:t>
            </a:r>
          </a:p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待ち合わせに1時間も遅刻した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2775000" y="3440000"/>
            <a:ext cx="1000000" cy="100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左 へ移動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2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81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2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右 へ移動</a:t>
            </a:r>
          </a:p>
        </p:txBody>
      </p:sp>
      <p:sp>
        <p:nvSpPr>
          <p:cNvPr id="12" name="Oval 11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0000" y="3190000"/>
            <a:ext cx="4470000" cy="2270000"/>
          </a:xfrm>
          <a:prstGeom prst="roundRect">
            <a:avLst>
              <a:gd name="adj" fmla="val 12000"/>
            </a:avLst>
          </a:prstGeom>
          <a:noFill/>
          <a:ln w="952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0000" y="5550000"/>
            <a:ext cx="9892000" cy="90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eiryo"/>
              </a:rPr>
              <a:t>正解は ○ ！ 記念すべき初デートでまさかの1時間遅刻…今では笑い話です😅</a:t>
            </a:r>
          </a:p>
        </p:txBody>
      </p:sp>
      <p:pic>
        <p:nvPicPr>
          <p:cNvPr id="26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pic>
        <p:nvPicPr>
          <p:cNvPr id="27" name="正解発表効果音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4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269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5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新婦が新郎に『これだけはやめてほしい』と</a:t>
            </a:r>
          </a:p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思っている癖は、いびきがうるさいこと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2775000" y="3440000"/>
            <a:ext cx="1000000" cy="100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左 へ移動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2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81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2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右 へ移動</a:t>
            </a:r>
          </a:p>
        </p:txBody>
      </p:sp>
      <p:sp>
        <p:nvSpPr>
          <p:cNvPr id="12" name="Oval 11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82000" y="3190000"/>
            <a:ext cx="4470000" cy="2270000"/>
          </a:xfrm>
          <a:prstGeom prst="roundRect">
            <a:avLst>
              <a:gd name="adj" fmla="val 12000"/>
            </a:avLst>
          </a:prstGeom>
          <a:noFill/>
          <a:ln w="952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0000" y="5550000"/>
            <a:ext cx="9892000" cy="90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eiryo"/>
              </a:rPr>
              <a:t>正解は × ！ 本当は『酔って帰ってきてのダル絡み』でした🍺</a:t>
            </a:r>
          </a:p>
        </p:txBody>
      </p:sp>
      <p:pic>
        <p:nvPicPr>
          <p:cNvPr id="26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pic>
        <p:nvPicPr>
          <p:cNvPr id="27" name="正解発表効果音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4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269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6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喧嘩したとき、新郎は必ず</a:t>
            </a:r>
          </a:p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コンビニでアイスを買ってくる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2775000" y="3440000"/>
            <a:ext cx="1000000" cy="100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左 へ移動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2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81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2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右 へ移動</a:t>
            </a:r>
          </a:p>
        </p:txBody>
      </p:sp>
      <p:sp>
        <p:nvSpPr>
          <p:cNvPr id="12" name="Oval 11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0000" y="3190000"/>
            <a:ext cx="4470000" cy="2270000"/>
          </a:xfrm>
          <a:prstGeom prst="roundRect">
            <a:avLst>
              <a:gd name="adj" fmla="val 12000"/>
            </a:avLst>
          </a:prstGeom>
          <a:noFill/>
          <a:ln w="952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0000" y="5550000"/>
            <a:ext cx="9892000" cy="90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eiryo"/>
              </a:rPr>
              <a:t>正解は ○ ！ 無言でアイスを差し出すのが新郎なりの仲直りの合図🍦</a:t>
            </a:r>
          </a:p>
        </p:txBody>
      </p:sp>
      <p:pic>
        <p:nvPicPr>
          <p:cNvPr id="26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pic>
        <p:nvPicPr>
          <p:cNvPr id="27" name="正解発表効果音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4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269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7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新婦が思う『新郎の手料理で</a:t>
            </a:r>
          </a:p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一番おいしいもの』は生姜焼きである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2775000" y="3440000"/>
            <a:ext cx="1000000" cy="100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左 へ移動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2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81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2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右 へ移動</a:t>
            </a:r>
          </a:p>
        </p:txBody>
      </p:sp>
      <p:sp>
        <p:nvSpPr>
          <p:cNvPr id="12" name="Oval 11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82000" y="3190000"/>
            <a:ext cx="4470000" cy="2270000"/>
          </a:xfrm>
          <a:prstGeom prst="roundRect">
            <a:avLst>
              <a:gd name="adj" fmla="val 12000"/>
            </a:avLst>
          </a:prstGeom>
          <a:noFill/>
          <a:ln w="952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0000" y="5550000"/>
            <a:ext cx="9892000" cy="90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eiryo"/>
              </a:rPr>
              <a:t>正解は × ！ 本当は『参鶏湯（サムゲタン）』でした🍲</a:t>
            </a:r>
          </a:p>
        </p:txBody>
      </p:sp>
      <p:pic>
        <p:nvPicPr>
          <p:cNvPr id="26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pic>
        <p:nvPicPr>
          <p:cNvPr id="27" name="正解発表効果音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4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269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8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0000" y="820000"/>
            <a:ext cx="6900000" cy="9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4枚のうち2枚はAIが作った写真。</a:t>
            </a:r>
          </a:p>
          <a:p>
            <a:pPr algn="ctr">
              <a:lnSpc>
                <a:spcPct val="118000"/>
              </a:lnSpc>
            </a:pPr>
            <a:r>
              <a:rPr sz="2500" b="1" lang="ja-JP" altLang="en-US">
                <a:solidFill>
                  <a:srgbClr val="3A2E2A"/>
                </a:solidFill>
                <a:latin typeface="Meiryo"/>
              </a:rPr>
              <a:t>本物の2枚は ○ の側である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1880000"/>
            <a:ext cx="4650000" cy="37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3255000" y="1910000"/>
            <a:ext cx="440000" cy="44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_child_re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000" y="2600000"/>
            <a:ext cx="1533000" cy="2300000"/>
          </a:xfrm>
          <a:prstGeom prst="rect">
            <a:avLst/>
          </a:prstGeom>
          <a:ln w="25400">
            <a:solidFill>
              <a:srgbClr val="D94F70"/>
            </a:solidFill>
          </a:ln>
        </p:spPr>
      </p:pic>
      <p:pic>
        <p:nvPicPr>
          <p:cNvPr id="8" name="Picture 7" descr="q_now_re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000" y="2600000"/>
            <a:ext cx="1533000" cy="2300000"/>
          </a:xfrm>
          <a:prstGeom prst="rect">
            <a:avLst/>
          </a:prstGeom>
          <a:ln w="25400">
            <a:solidFill>
              <a:srgbClr val="D94F7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1150000" y="4980000"/>
            <a:ext cx="4650000" cy="48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 lang="ja-JP" altLang="en-US">
                <a:solidFill>
                  <a:srgbClr val="3A2E2A"/>
                </a:solidFill>
                <a:latin typeface="Meiryo"/>
              </a:rPr>
              <a:t>画面に向かって 左 へ移動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92000" y="1880000"/>
            <a:ext cx="4650000" cy="37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 rot="2700000">
            <a:off x="8510200" y="2086000"/>
            <a:ext cx="413600" cy="88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 rot="8100000">
            <a:off x="8510200" y="2086000"/>
            <a:ext cx="413600" cy="88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q_child_ai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00" y="2600000"/>
            <a:ext cx="1533000" cy="2300000"/>
          </a:xfrm>
          <a:prstGeom prst="rect">
            <a:avLst/>
          </a:prstGeom>
          <a:ln w="25400">
            <a:solidFill>
              <a:srgbClr val="34558B"/>
            </a:solidFill>
          </a:ln>
        </p:spPr>
      </p:pic>
      <p:pic>
        <p:nvPicPr>
          <p:cNvPr id="14" name="Picture 13" descr="q_now_ai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7000" y="2600000"/>
            <a:ext cx="1533000" cy="2300000"/>
          </a:xfrm>
          <a:prstGeom prst="rect">
            <a:avLst/>
          </a:prstGeom>
          <a:ln w="25400">
            <a:solidFill>
              <a:srgbClr val="34558B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392000" y="4980000"/>
            <a:ext cx="4650000" cy="48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700" b="1" lang="ja-JP" altLang="en-US">
                <a:solidFill>
                  <a:srgbClr val="3A2E2A"/>
                </a:solidFill>
                <a:latin typeface="Meiryo"/>
              </a:rPr>
              <a:t>画面に向かって 右 へ移動</a:t>
            </a:r>
          </a:p>
        </p:txBody>
      </p:sp>
      <p:sp>
        <p:nvSpPr>
          <p:cNvPr id="16" name="Oval 15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40000" y="1770000"/>
            <a:ext cx="4870000" cy="3940000"/>
          </a:xfrm>
          <a:prstGeom prst="roundRect">
            <a:avLst>
              <a:gd name="adj" fmla="val 12000"/>
            </a:avLst>
          </a:prstGeom>
          <a:noFill/>
          <a:ln w="952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150000" y="5750000"/>
            <a:ext cx="9892000" cy="85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100" b="1">
                <a:solidFill>
                  <a:srgbClr val="FFFFFF"/>
                </a:solidFill>
                <a:latin typeface="Meiryo"/>
              </a:rPr>
              <a:t>正解は ○ ！ 口が開いている方と、カルピスを持っている方が本物でした📷</a:t>
            </a:r>
          </a:p>
        </p:txBody>
      </p:sp>
      <p:pic>
        <p:nvPicPr>
          <p:cNvPr id="30" name="カウントダウンBGM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pic>
        <p:nvPicPr>
          <p:cNvPr id="31" name="正解発表効果音">
            <a:hlinkClick r:id="" action="ppaction://media"/>
          </p:cNvPr>
          <p:cNvPicPr>
            <a:picLocks noChangeAspect="1"/>
          </p:cNvPicPr>
          <p:nvPr>
            <a:audioFile r:link="rId11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-14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3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2699" fill="hold"/>
                                        <p:tgtEl>
                                          <p:spTgt spid="3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0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1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9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入籍前、新郎は社員旅行で</a:t>
            </a:r>
          </a:p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左手の薬指を負傷した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2775000" y="3440000"/>
            <a:ext cx="1000000" cy="100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左 へ移動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2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81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2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右 へ移動</a:t>
            </a:r>
          </a:p>
        </p:txBody>
      </p:sp>
      <p:sp>
        <p:nvSpPr>
          <p:cNvPr id="12" name="Oval 11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0000" y="3190000"/>
            <a:ext cx="4470000" cy="2270000"/>
          </a:xfrm>
          <a:prstGeom prst="roundRect">
            <a:avLst>
              <a:gd name="adj" fmla="val 12000"/>
            </a:avLst>
          </a:prstGeom>
          <a:noFill/>
          <a:ln w="952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0000" y="5550000"/>
            <a:ext cx="9892000" cy="90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eiryo"/>
              </a:rPr>
              <a:t>正解は ○ ！ よりによって結婚指輪をはめる指を負傷…😱</a:t>
            </a:r>
          </a:p>
        </p:txBody>
      </p:sp>
      <p:pic>
        <p:nvPicPr>
          <p:cNvPr id="26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pic>
        <p:nvPicPr>
          <p:cNvPr id="27" name="正解発表効果音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4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269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10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ドラマが苦手な新郎が、新婦と唯一</a:t>
            </a:r>
          </a:p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最後まで見られたドラマは『VIVANT』である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2775000" y="3440000"/>
            <a:ext cx="1000000" cy="100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左 へ移動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2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81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2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右 へ移動</a:t>
            </a:r>
          </a:p>
        </p:txBody>
      </p:sp>
      <p:sp>
        <p:nvSpPr>
          <p:cNvPr id="12" name="Oval 11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82000" y="3190000"/>
            <a:ext cx="4470000" cy="2270000"/>
          </a:xfrm>
          <a:prstGeom prst="roundRect">
            <a:avLst>
              <a:gd name="adj" fmla="val 12000"/>
            </a:avLst>
          </a:prstGeom>
          <a:noFill/>
          <a:ln w="952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0000" y="5550000"/>
            <a:ext cx="9892000" cy="90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eiryo"/>
              </a:rPr>
              <a:t>正解は × ！ 本当は『ロイヤルファミリー』でした📺</a:t>
            </a:r>
          </a:p>
        </p:txBody>
      </p:sp>
      <p:pic>
        <p:nvPicPr>
          <p:cNvPr id="26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pic>
        <p:nvPicPr>
          <p:cNvPr id="27" name="正解発表効果音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4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269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11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新郎が新婦にやめてほしいのは</a:t>
            </a:r>
          </a:p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朝の目覚ましの音が大きすぎること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2775000" y="3440000"/>
            <a:ext cx="1000000" cy="100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左 へ移動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2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81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2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右 へ移動</a:t>
            </a:r>
          </a:p>
        </p:txBody>
      </p:sp>
      <p:sp>
        <p:nvSpPr>
          <p:cNvPr id="12" name="Oval 11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82000" y="3190000"/>
            <a:ext cx="4470000" cy="2270000"/>
          </a:xfrm>
          <a:prstGeom prst="roundRect">
            <a:avLst>
              <a:gd name="adj" fmla="val 12000"/>
            </a:avLst>
          </a:prstGeom>
          <a:noFill/>
          <a:ln w="952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0000" y="5550000"/>
            <a:ext cx="9892000" cy="90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eiryo"/>
              </a:rPr>
              <a:t>正解は × ！ 本当は『酔って帰ってきたら、そのまま床で寝ること』でした🛏️</a:t>
            </a:r>
          </a:p>
        </p:txBody>
      </p:sp>
      <p:pic>
        <p:nvPicPr>
          <p:cNvPr id="26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pic>
        <p:nvPicPr>
          <p:cNvPr id="27" name="正解発表効果音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4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269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第 12 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新婦が『新郎と出会ってよかった』と</a:t>
            </a:r>
          </a:p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思っているのは、新しい趣味が増えたこと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2775000" y="3440000"/>
            <a:ext cx="1000000" cy="100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左 へ移動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2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81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2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右 へ移動</a:t>
            </a:r>
          </a:p>
        </p:txBody>
      </p:sp>
      <p:sp>
        <p:nvSpPr>
          <p:cNvPr id="12" name="Oval 11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82000" y="3190000"/>
            <a:ext cx="4470000" cy="2270000"/>
          </a:xfrm>
          <a:prstGeom prst="roundRect">
            <a:avLst>
              <a:gd name="adj" fmla="val 12000"/>
            </a:avLst>
          </a:prstGeom>
          <a:noFill/>
          <a:ln w="952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0000" y="5550000"/>
            <a:ext cx="9892000" cy="90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eiryo"/>
              </a:rPr>
              <a:t>正解は × ！ 本当は『太らない食生活を手に入れたこと』でした🥗</a:t>
            </a:r>
          </a:p>
        </p:txBody>
      </p:sp>
      <p:pic>
        <p:nvPicPr>
          <p:cNvPr id="26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pic>
        <p:nvPicPr>
          <p:cNvPr id="27" name="正解発表効果音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4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269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FFFFF"/>
                </a:solidFill>
                <a:latin typeface="Meiryo"/>
              </a:rPr>
              <a:t>最終問題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62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新郎新婦が今いちばん欲しいものは</a:t>
            </a:r>
          </a:p>
          <a:p>
            <a:pPr algn="ctr">
              <a:lnSpc>
                <a:spcPct val="118000"/>
              </a:lnSpc>
            </a:pPr>
            <a:r>
              <a:rPr sz="3300" b="1" lang="ja-JP" altLang="en-US">
                <a:solidFill>
                  <a:srgbClr val="3A2E2A"/>
                </a:solidFill>
                <a:latin typeface="Meiryo"/>
              </a:rPr>
              <a:t>ドラム式洗濯機である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0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D94F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Donut 5"/>
          <p:cNvSpPr/>
          <p:nvPr/>
        </p:nvSpPr>
        <p:spPr>
          <a:xfrm>
            <a:off x="2775000" y="3440000"/>
            <a:ext cx="1000000" cy="1000000"/>
          </a:xfrm>
          <a:prstGeom prst="donut">
            <a:avLst>
              <a:gd name="adj" fmla="val 13000"/>
            </a:avLst>
          </a:prstGeom>
          <a:solidFill>
            <a:srgbClr val="D94F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0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左 へ移動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92000" y="3300000"/>
            <a:ext cx="4250000" cy="205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76200">
            <a:solidFill>
              <a:srgbClr val="3455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27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8100000">
            <a:off x="8447000" y="3840000"/>
            <a:ext cx="940000" cy="200000"/>
          </a:xfrm>
          <a:prstGeom prst="roundRect">
            <a:avLst>
              <a:gd name="adj" fmla="val 50000"/>
            </a:avLst>
          </a:prstGeom>
          <a:solidFill>
            <a:srgbClr val="3455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92000" y="4590000"/>
            <a:ext cx="4250000" cy="64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1900" b="1" lang="ja-JP" altLang="en-US">
                <a:solidFill>
                  <a:srgbClr val="3A2E2A"/>
                </a:solidFill>
                <a:latin typeface="Meiryo"/>
              </a:rPr>
              <a:t>画面に向かって 右 へ移動</a:t>
            </a:r>
          </a:p>
        </p:txBody>
      </p:sp>
      <p:sp>
        <p:nvSpPr>
          <p:cNvPr id="12" name="Oval 11"/>
          <p:cNvSpPr/>
          <p:nvPr/>
        </p:nvSpPr>
        <p:spPr>
          <a:xfrm>
            <a:off x="10400000" y="250000"/>
            <a:ext cx="1300000" cy="1300000"/>
          </a:xfrm>
          <a:prstGeom prst="ellipse">
            <a:avLst/>
          </a:prstGeom>
          <a:solidFill>
            <a:srgbClr val="962C42"/>
          </a:solidFill>
          <a:ln w="635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00000" y="440000"/>
            <a:ext cx="1300000" cy="90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0000" y="3190000"/>
            <a:ext cx="4470000" cy="2270000"/>
          </a:xfrm>
          <a:prstGeom prst="roundRect">
            <a:avLst>
              <a:gd name="adj" fmla="val 12000"/>
            </a:avLst>
          </a:prstGeom>
          <a:noFill/>
          <a:ln w="9525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50000" y="5550000"/>
            <a:ext cx="9892000" cy="900000"/>
          </a:xfrm>
          <a:prstGeom prst="roundRect">
            <a:avLst>
              <a:gd name="adj" fmla="val 25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eiryo"/>
              </a:rPr>
              <a:t>正解は ○ ！ ドラム式洗濯機、絶賛募集中です🧺✨</a:t>
            </a:r>
          </a:p>
        </p:txBody>
      </p:sp>
      <p:pic>
        <p:nvPicPr>
          <p:cNvPr id="26" name="カウントダウン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  <p:pic>
        <p:nvPicPr>
          <p:cNvPr id="27" name="正解発表効果音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14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24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54" dur="269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26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6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  <p:audio>
              <p:cMediaNode vol="80000">
                <p:cTn id="63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2150000"/>
            <a:ext cx="10392000" cy="14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5600" b="1" lang="ja-JP" altLang="en-US">
                <a:solidFill>
                  <a:srgbClr val="FFFFFF"/>
                </a:solidFill>
                <a:latin typeface="Meiryo"/>
              </a:rPr>
              <a:t>結果発表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750000"/>
            <a:ext cx="10392000" cy="7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 lang="ja-JP" altLang="en-US">
                <a:solidFill>
                  <a:srgbClr val="F6DFC8"/>
                </a:solidFill>
                <a:latin typeface="Meiryo"/>
              </a:rPr>
              <a:t>最後まで勝ち残ったのは…？</a:t>
            </a:r>
          </a:p>
        </p:txBody>
      </p:sp>
      <p:pic>
        <p:nvPicPr>
          <p:cNvPr id="5" name="セクション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結果発表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優勝！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400000"/>
            <a:ext cx="10392000" cy="26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000" b="1" lang="ja-JP" altLang="en-US">
                <a:solidFill>
                  <a:srgbClr val="962C42"/>
                </a:solidFill>
                <a:latin typeface="Meiryo"/>
              </a:rPr>
              <a:t>{{優勝者のお名前}} 様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1250000"/>
            <a:ext cx="10392000" cy="8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 lang="ja-JP" altLang="en-US">
                <a:solidFill>
                  <a:srgbClr val="C9A227"/>
                </a:solidFill>
                <a:latin typeface="Meiryo"/>
              </a:rPr>
              <a:t>CEREMONY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050000"/>
            <a:ext cx="10392000" cy="15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600" b="1" lang="ja-JP" altLang="en-US">
                <a:solidFill>
                  <a:srgbClr val="962C42"/>
                </a:solidFill>
                <a:latin typeface="Meiryo"/>
              </a:rPr>
              <a:t>中村になろうよ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4050000"/>
            <a:ext cx="10392000" cy="11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 lang="ja-JP" altLang="en-US">
                <a:solidFill>
                  <a:srgbClr val="3A2E2A"/>
                </a:solidFill>
                <a:latin typeface="Meiryo"/>
              </a:rPr>
              <a:t>{{この時間の演出・ひとこと}}</a:t>
            </a:r>
          </a:p>
        </p:txBody>
      </p:sp>
      <p:pic>
        <p:nvPicPr>
          <p:cNvPr id="6" name="中村になろうよ BGM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7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2150000"/>
            <a:ext cx="10392000" cy="145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5600" b="1" lang="ja-JP" altLang="en-US">
                <a:solidFill>
                  <a:srgbClr val="FFFFFF"/>
                </a:solidFill>
                <a:latin typeface="Meiryo"/>
              </a:rPr>
              <a:t>ビンゴ大会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750000"/>
            <a:ext cx="10392000" cy="7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200" b="0" lang="ja-JP" altLang="en-US">
                <a:solidFill>
                  <a:srgbClr val="F6DFC8"/>
                </a:solidFill>
                <a:latin typeface="Meiryo"/>
              </a:rPr>
              <a:t>お手元のカードをご用意ください🎱</a:t>
            </a:r>
          </a:p>
        </p:txBody>
      </p:sp>
      <p:pic>
        <p:nvPicPr>
          <p:cNvPr id="5" name="セクション効果音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1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i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ビンゴ大会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ビンゴ大会 ルール説明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9600000" cy="34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・お手元のビンゴカードをご用意ください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・読み上げられた数字が、カードにあれば穴をあけてください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・あと1つでそろったら「リーチ！」と教えてください</a:t>
            </a:r>
          </a:p>
          <a:p>
            <a:pPr algn="l">
              <a:lnSpc>
                <a:spcPct val="118000"/>
              </a:lnSpc>
            </a:pPr>
            <a:r>
              <a:rPr sz="2500" b="0" lang="ja-JP" altLang="en-US">
                <a:solidFill>
                  <a:srgbClr val="3A2E2A"/>
                </a:solidFill>
                <a:latin typeface="Meiryo"/>
              </a:rPr>
              <a:t>・そろったら「ビンゴ！」と大きな声でお知らせください🎉</a:t>
            </a:r>
          </a:p>
        </p:txBody>
      </p:sp>
      <p:pic>
        <p:nvPicPr>
          <p:cNvPr id="6" name="ドラムロール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i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ビンゴ大会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まもなくスタート！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400000"/>
            <a:ext cx="10392000" cy="26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000" b="1" lang="ja-JP" altLang="en-US">
                <a:solidFill>
                  <a:srgbClr val="962C42"/>
                </a:solidFill>
                <a:latin typeface="Meiryo"/>
              </a:rPr>
              <a:t>ビンゴ大会</a:t>
            </a:r>
          </a:p>
          <a:p>
            <a:pPr algn="ctr">
              <a:lnSpc>
                <a:spcPct val="118000"/>
              </a:lnSpc>
            </a:pPr>
            <a:r>
              <a:rPr sz="6000" b="1" lang="ja-JP" altLang="en-US">
                <a:solidFill>
                  <a:srgbClr val="962C42"/>
                </a:solidFill>
                <a:latin typeface="Meiryo"/>
              </a:rPr>
              <a:t>スタート！</a:t>
            </a:r>
          </a:p>
        </p:txBody>
      </p:sp>
      <p:pic>
        <p:nvPicPr>
          <p:cNvPr id="6" name="ファンファーレ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i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ビンゴ大会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リーチ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400000"/>
            <a:ext cx="10392000" cy="26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000" b="1" lang="ja-JP" altLang="en-US">
                <a:solidFill>
                  <a:srgbClr val="962C42"/>
                </a:solidFill>
                <a:latin typeface="Meiryo"/>
              </a:rPr>
              <a:t>リーチの方ー！？</a:t>
            </a:r>
          </a:p>
          <a:p>
            <a:pPr algn="ctr">
              <a:lnSpc>
                <a:spcPct val="118000"/>
              </a:lnSpc>
            </a:pPr>
            <a:r>
              <a:rPr sz="6000" b="1" lang="ja-JP" altLang="en-US">
                <a:solidFill>
                  <a:srgbClr val="962C42"/>
                </a:solidFill>
                <a:latin typeface="Meiryo"/>
              </a:rPr>
              <a:t>手を挙げてくださーい🙌</a:t>
            </a:r>
          </a:p>
        </p:txBody>
      </p:sp>
      <p:pic>
        <p:nvPicPr>
          <p:cNvPr id="6" name="ドラムロール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i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20000" y="300000"/>
            <a:ext cx="2500000" cy="820000"/>
          </a:xfrm>
          <a:prstGeom prst="roundRect">
            <a:avLst>
              <a:gd name="adj" fmla="val 50000"/>
            </a:avLst>
          </a:prstGeom>
          <a:solidFill>
            <a:srgbClr val="962C42"/>
          </a:solidFill>
          <a:ln w="38100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45000" bIns="45000"/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FFFFFF"/>
                </a:solidFill>
                <a:latin typeface="Meiryo"/>
              </a:rPr>
              <a:t>ビンゴ大会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1250000"/>
            <a:ext cx="10392000" cy="10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000" b="1" lang="ja-JP" altLang="en-US">
                <a:solidFill>
                  <a:srgbClr val="962C42"/>
                </a:solidFill>
                <a:latin typeface="Meiryo"/>
              </a:rPr>
              <a:t>ビンゴ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400000"/>
            <a:ext cx="10392000" cy="26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6000" b="1" lang="ja-JP" altLang="en-US">
                <a:solidFill>
                  <a:srgbClr val="962C42"/>
                </a:solidFill>
                <a:latin typeface="Meiryo"/>
              </a:rPr>
              <a:t>ビンゴ！！🎉</a:t>
            </a:r>
          </a:p>
        </p:txBody>
      </p:sp>
      <p:pic>
        <p:nvPicPr>
          <p:cNvPr id="6" name="ファンファーレ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900000" y="200000"/>
            <a:ext cx="406400" cy="4064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99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00000" y="1900000"/>
            <a:ext cx="10392000" cy="16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4200" b="1" lang="ja-JP" altLang="en-US">
                <a:solidFill>
                  <a:srgbClr val="962C42"/>
                </a:solidFill>
                <a:latin typeface="Meiryo"/>
              </a:rPr>
              <a:t>本日はご列席いただき</a:t>
            </a:r>
          </a:p>
          <a:p>
            <a:pPr algn="ctr">
              <a:lnSpc>
                <a:spcPct val="118000"/>
              </a:lnSpc>
            </a:pPr>
            <a:r>
              <a:rPr sz="4200" b="1" lang="ja-JP" altLang="en-US">
                <a:solidFill>
                  <a:srgbClr val="962C42"/>
                </a:solidFill>
                <a:latin typeface="Meiryo"/>
              </a:rPr>
              <a:t>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3900000"/>
            <a:ext cx="10392000" cy="1200000"/>
          </a:xfrm>
          <a:prstGeom prst="rect">
            <a:avLst/>
          </a:prstGeom>
          <a:noFill/>
        </p:spPr>
        <p:txBody>
          <a:bodyPr wrap="square" anchor="ctr" lIns="90000" rIns="90000" tIns="45000" bIns="45000">
            <a:spAutoFit/>
          </a:bodyPr>
          <a:lstStyle/>
          <a:p>
            <a:pPr algn="ctr">
              <a:lnSpc>
                <a:spcPct val="118000"/>
              </a:lnSpc>
            </a:pPr>
            <a:r>
              <a:rPr sz="2400" b="1" lang="ja-JP" altLang="en-US">
                <a:solidFill>
                  <a:srgbClr val="3A2E2A"/>
                </a:solidFill>
                <a:latin typeface="Meiryo"/>
              </a:rPr>
              <a:t>これからもふたりをよろしくお願いします🤍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