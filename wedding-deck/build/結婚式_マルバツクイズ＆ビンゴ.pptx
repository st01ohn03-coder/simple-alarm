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{{司会者名}} を実際のお名前に差し替えてください。×の問題にしたい場合は、わざと違うお名前を入れて、解説を『正解は×！本当は〇〇さんでした』に変え、赤枠の位置を×側に動かしてください。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{{台風番号}} を当日の号数に差し替えてください。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答えはお二人しか分かりません。当日の空気を見て○か×かを決め、正解なら赤枠はこのまま、×にするなら赤枠を×側へ動かしてください。表現をやわらげたい場合は『新郎新婦が最後にハグしたのは1週間以内である』などに差し替えても同じ構成で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元ネタ：初デートで新郎がやらかした失敗＝待ち合わせに遅刻（1時間）。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【第5問】正解：×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ダミー選択肢（いびき）を出題文に使った×問題。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元ネタ：喧嘩したとき新郎が必ずすること＝コンビニでアイスを買ってくる。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【第7問】正解：×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ダミー選択肢（生姜焼き）を出題文に使った×問題。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写真は1枚しかお預かりできていないため『これは新郎か？』の○×問題にしています。他の方の幼少期写真が用意できれば、4枚並べて『新郎はどれ？』に作り替えられます。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『るい or るいぴー』のネタ。正しい方に合わせて赤枠の位置と解説を調整してください。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元ネタ：入籍前にやらかしたエピソード＝新郎が社員旅行で左手薬指を負傷。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【第11問】正解：×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ダミー選択肢（VIVANT）を出題文に使った×問題。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元ネタ：新郎が新婦にやめて欲しいこと＝酔って帰ってきたら床で寝ること。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【第13問】正解：×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ダミー選択肢（新しい趣味）を出題文に使った×問題。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【第14問】正解：○</a:t>
            </a:r>
          </a:p>
          <a:p>
            <a:r>
              <a:t>① 問題を読み上げる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正解の赤枠が点滅＋効果音、解説が出ます</a:t>
            </a:r>
          </a:p>
          <a:p/>
          <a:p>
            <a:r>
              <a:t>ご指定の最終問題。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{{優勝者のお名前}} を当日その場で入力するか、口頭で読み上げてください。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【差し替え手順（ご自身でやる場合）】</a:t>
            </a:r>
          </a:p>
          <a:p>
            <a:r>
              <a:t>1. このスライドの左外（グレー部分）にあるスピーカーアイコンを選択して削除</a:t>
            </a:r>
          </a:p>
          <a:p>
            <a:r>
              <a:t>2. [挿入] → [オーディオ] → [このコンピューター上のオーディオ] で「家族になろうよ」のmp3を挿入</a:t>
            </a:r>
          </a:p>
          <a:p>
            <a:r>
              <a:t>3. 挿入したスピーカーアイコンをスライドの外へドラッグして見えない位置に移動</a:t>
            </a:r>
          </a:p>
          <a:p>
            <a:r>
              <a:t>4. 挿入した音声を選択 →[アニメーション]→[アニメーションウィンドウ]→[トリガー]→</a:t>
            </a:r>
          </a:p>
          <a:p>
            <a:r>
              <a:t>   [クリック時] →「BGM再生ボタン」 を指定する</a:t>
            </a:r>
          </a:p>
          <a:p>
            <a:r>
              <a:t>   （※もともと同じ設定が入っています。同じ形にすれば動きは変わりません）</a:t>
            </a:r>
          </a:p>
          <a:p/>
          <a:p>
            <a:r>
              <a:t>※ mp3をお送りいただければ、この作業込みで組み込んだものをお渡しできます。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microsoft.com/office/2007/relationships/media" Target="../media/media2.mp3"/><Relationship Id="rId5" Type="http://schemas.openxmlformats.org/officeDocument/2006/relationships/audio" Target="../media/media2.mp3"/><Relationship Id="rId6" Type="http://schemas.openxmlformats.org/officeDocument/2006/relationships/image" Target="../media/image4.png"/><Relationship Id="rId7" Type="http://schemas.microsoft.com/office/2007/relationships/media" Target="../media/media1.mp3"/><Relationship Id="rId8" Type="http://schemas.openxmlformats.org/officeDocument/2006/relationships/audio" Target="../media/media1.mp3"/><Relationship Id="rId9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microsoft.com/office/2007/relationships/media" Target="../media/media1.mp3"/><Relationship Id="rId7" Type="http://schemas.openxmlformats.org/officeDocument/2006/relationships/audio" Target="../media/media1.mp3"/><Relationship Id="rId8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500000"/>
            <a:ext cx="10392000" cy="9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C9A227"/>
                </a:solidFill>
                <a:latin typeface="Meiryo"/>
              </a:rPr>
              <a:t>新郎新婦のことどれだけ知ってる？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4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800" b="1" lang="ja-JP" altLang="en-US">
                <a:solidFill>
                  <a:srgbClr val="962C42"/>
                </a:solidFill>
                <a:latin typeface="Meiryo"/>
              </a:rPr>
              <a:t>○× クイズ大会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200000"/>
            <a:ext cx="10392000" cy="9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000" b="1" lang="ja-JP" altLang="en-US">
                <a:solidFill>
                  <a:srgbClr val="3A2E2A"/>
                </a:solidFill>
                <a:latin typeface="Meiryo"/>
              </a:rPr>
              <a:t>＆ ビンゴ大会 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○×クイズ！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・司会が読み上げる問題に、○か×かでお答えください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・正解だと思う方へ、会場を移動していただきます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・全14問！　最後まで勝ち残った方には…お楽しみが🎁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2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Donut 5"/>
          <p:cNvSpPr/>
          <p:nvPr/>
        </p:nvSpPr>
        <p:spPr>
          <a:xfrm>
            <a:off x="2700000" y="2725000"/>
            <a:ext cx="1150000" cy="115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418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100" b="1" lang="ja-JP" altLang="en-US">
                <a:solidFill>
                  <a:srgbClr val="3A2E2A"/>
                </a:solidFill>
                <a:latin typeface="Meiryo"/>
              </a:rPr>
              <a:t>← 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92000" y="2600000"/>
            <a:ext cx="42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2700000">
            <a:off x="8376500" y="3185000"/>
            <a:ext cx="1081000" cy="23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376500" y="3185000"/>
            <a:ext cx="1081000" cy="23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18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100" b="1" lang="ja-JP" altLang="en-US">
                <a:solidFill>
                  <a:srgbClr val="3A2E2A"/>
                </a:solidFill>
                <a:latin typeface="Meiryo"/>
              </a:rPr>
              <a:t>画面に向かって 右 へ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○×クイズ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さあ、スタートです！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今日の披露宴の司会は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『{{司会者名}}』さんである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司会は {{司会者名}} さんでした🎤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今日、日本に直撃している台風は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『{{台風番号}}号』である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台風{{台風番号}}号です。こんな日にお越しいただき本当にありがとうございます☔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新郎新婦が1番最近SEXしたのは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1週間以内である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{{○ / ×}} ！ {{ひとことコメント}}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初めてのデートで、新郎は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待ち合わせに1時間も遅刻した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記念すべき初デートでまさかの1時間遅刻…今では笑い話です😅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新婦が新郎に『これだけはやめてほしい』と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思っている癖は、いびきがうるさいこと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82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× ！ 本当は『酔って帰ってきてのダル絡み』でした🍺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喧嘩したとき、新郎は必ず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無言でアイスを差し出すのが新郎なりの仲直りの合図🍦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一番おいしいもの』は生姜焼きである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82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× ！ 本当は『参鶏湯（サムゲタン）』でした🍲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pic>
        <p:nvPicPr>
          <p:cNvPr id="4" name="Picture 3" descr="groom_chi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00" y="1250000"/>
            <a:ext cx="3000000" cy="449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00000" y="520000"/>
            <a:ext cx="590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700" b="1" lang="ja-JP" altLang="en-US">
                <a:solidFill>
                  <a:srgbClr val="3A2E2A"/>
                </a:solidFill>
                <a:latin typeface="Meiryo"/>
              </a:rPr>
              <a:t>スクリーンに映っている</a:t>
            </a:r>
          </a:p>
          <a:p>
            <a:pPr algn="ctr">
              <a:lnSpc>
                <a:spcPct val="118000"/>
              </a:lnSpc>
            </a:pPr>
            <a:r>
              <a:rPr sz="2700" b="1" lang="ja-JP" altLang="en-US">
                <a:solidFill>
                  <a:srgbClr val="3A2E2A"/>
                </a:solidFill>
                <a:latin typeface="Meiryo"/>
              </a:rPr>
              <a:t>幼少期の写真は、新郎である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00000" y="2000000"/>
            <a:ext cx="7300000" cy="14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00000" y="3650000"/>
            <a:ext cx="7300000" cy="14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Donut 7"/>
          <p:cNvSpPr/>
          <p:nvPr/>
        </p:nvSpPr>
        <p:spPr>
          <a:xfrm>
            <a:off x="4430000" y="2275000"/>
            <a:ext cx="900000" cy="9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0000" y="2000000"/>
            <a:ext cx="5550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10" name="Rounded Rectangle 9"/>
          <p:cNvSpPr/>
          <p:nvPr/>
        </p:nvSpPr>
        <p:spPr>
          <a:xfrm rot="2700000">
            <a:off x="4457000" y="4285000"/>
            <a:ext cx="846000" cy="18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8100000">
            <a:off x="4457000" y="4285000"/>
            <a:ext cx="846000" cy="18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0000" y="3650000"/>
            <a:ext cx="5550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90000" y="1890000"/>
            <a:ext cx="7520000" cy="16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100000" y="5350000"/>
            <a:ext cx="7300000" cy="11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Meiryo"/>
              </a:rPr>
              <a:t>正解は ○ ！ 1998年7月25日、1歳の新郎です👶</a:t>
            </a:r>
          </a:p>
        </p:txBody>
      </p:sp>
      <p:pic>
        <p:nvPicPr>
          <p:cNvPr id="27" name="カウントダウンBGM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8" name="正解発表効果音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新郎の子どものころのあだ名は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『るいぴー』だった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{{○ / ×}} ！ 『{{るい / るいぴー}}』と呼ばれていました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入籍前、新郎は社員旅行で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左手の薬指を負傷した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よりによって結婚指輪をはめる指を負傷…😱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ドラマが苦手な新郎が、新婦と唯一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最後まで見られたドラマは『VIVANT』である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82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× ！ 本当は『ロイヤルファミリー』でした📺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新郎が新婦にやめてほしいのは、酔って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帰ってきたらそのまま床で寝てしまうこと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ベッドまであと3歩…！🛏️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思っているのは、新しい趣味が増えたこと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82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× ！ 本当は『太らない食生活を手に入れたこと』でした🥗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新郎新婦が今いちばん欲しいものは</a:t>
            </a:r>
          </a:p>
          <a:p>
            <a:pPr algn="ctr">
              <a:lnSpc>
                <a:spcPct val="118000"/>
              </a:lnSpc>
            </a:pPr>
            <a:r>
              <a:rPr sz="3300" b="1" lang="ja-JP" altLang="en-US">
                <a:solidFill>
                  <a:srgbClr val="3A2E2A"/>
                </a:solidFill>
                <a:latin typeface="Meiryo"/>
              </a:rPr>
              <a:t>ドラム式洗濯機である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92000" y="3300000"/>
            <a:ext cx="4250000" cy="20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2775000" y="3440000"/>
            <a:ext cx="1000000" cy="1000000"/>
          </a:xfrm>
          <a:prstGeom prst="donut">
            <a:avLst>
              <a:gd name="adj" fmla="val 13000"/>
            </a:avLst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左 へ移動</a:t>
            </a:r>
          </a:p>
        </p:txBody>
      </p:sp>
      <p:sp>
        <p:nvSpPr>
          <p:cNvPr id="9" name="Rounded Rectangle 8"/>
          <p:cNvSpPr/>
          <p:nvPr/>
        </p:nvSpPr>
        <p:spPr>
          <a:xfrm rot="27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8100000">
            <a:off x="8447000" y="3840000"/>
            <a:ext cx="940000" cy="200000"/>
          </a:xfrm>
          <a:prstGeom prst="roundRect">
            <a:avLst>
              <a:gd name="adj" fmla="val 50000"/>
            </a:avLst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2000" y="4590000"/>
            <a:ext cx="4250000" cy="64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画面に向かって 右 へ移動</a:t>
            </a:r>
          </a:p>
        </p:txBody>
      </p:sp>
      <p:sp>
        <p:nvSpPr>
          <p:cNvPr id="12" name="Oval 11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0000" y="3190000"/>
            <a:ext cx="4470000" cy="2270000"/>
          </a:xfrm>
          <a:prstGeom prst="roundRect">
            <a:avLst>
              <a:gd name="adj" fmla="val 12000"/>
            </a:avLst>
          </a:prstGeom>
          <a:noFill/>
          <a:ln w="952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50000" y="55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Meiryo"/>
              </a:rPr>
              <a:t>正解は ○ ！ ドラム式洗濯機、絶賛募集中です🧺✨</a:t>
            </a:r>
          </a:p>
        </p:txBody>
      </p:sp>
      <p:pic>
        <p:nvPicPr>
          <p:cNvPr id="26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pic>
        <p:nvPicPr>
          <p:cNvPr id="27" name="正解発表効果音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4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4" dur="2699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最後まで勝ち残ったのは…？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優勝！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{{優勝者のお名前}} 様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・係の者がお席まで景品をお持ちします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景品発表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・1等　{{景品1}}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・2等　{{景品2}}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・3等　{{景品3}}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・参加賞　{{参加賞}}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90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lang="ja-JP" altLang="en-US">
                <a:solidFill>
                  <a:srgbClr val="C9A227"/>
                </a:solidFill>
                <a:latin typeface="Meiryo"/>
              </a:rPr>
              <a:t>BGM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85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400" b="1" lang="ja-JP" altLang="en-US">
                <a:solidFill>
                  <a:srgbClr val="962C42"/>
                </a:solidFill>
                <a:latin typeface="Meiryo"/>
              </a:rPr>
              <a:t>家族になろうよ</a:t>
            </a:r>
          </a:p>
        </p:txBody>
      </p:sp>
      <p:pic>
        <p:nvPicPr>
          <p:cNvPr id="5" name="家族になろうよ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6" name="BGM再生ボタン"/>
          <p:cNvSpPr/>
          <p:nvPr/>
        </p:nvSpPr>
        <p:spPr>
          <a:xfrm>
            <a:off x="4096000" y="3350000"/>
            <a:ext cx="4000000" cy="1300000"/>
          </a:xfrm>
          <a:prstGeom prst="roundRect">
            <a:avLst>
              <a:gd name="adj" fmla="val 30000"/>
            </a:avLst>
          </a:prstGeom>
          <a:solidFill>
            <a:srgbClr val="962C42"/>
          </a:solidFill>
          <a:ln w="508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Meiryo"/>
              </a:rPr>
              <a:t>▶　BGMを再生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495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↑ このボタン自体をクリックすると再生されます（スライド送りでは鳴りません）</a:t>
            </a:r>
          </a:p>
          <a:p>
            <a:pPr algn="ctr">
              <a:lnSpc>
                <a:spcPct val="118000"/>
              </a:lnSpc>
            </a:pPr>
            <a:r>
              <a:rPr sz="1600" b="0" lang="ja-JP" altLang="en-US">
                <a:solidFill>
                  <a:srgbClr val="3A2E2A"/>
                </a:solidFill>
                <a:latin typeface="Meiryo"/>
              </a:rPr>
              <a:t>（今は無音のダミー音源が入っています。mp3をいただければ差し替えます）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="onClick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7975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本日はご列席いただき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