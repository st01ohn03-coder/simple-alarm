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【第1問】問題スライド（答えは次のスライド）</a:t>
            </a:r>
          </a:p>
          <a:p>
            <a:r>
              <a:t>正解：右 「森月子 さん」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  <a:p/>
          <a:p>
            <a:r>
              <a:t>ダミーのお名前は、ご列席者と被らないものにしてください。お名前の漢字・読みもご確認を。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【第1問】正解：右 「森月子 さん」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【第2問】問題スライド（答えは次のスライド）</a:t>
            </a:r>
          </a:p>
          <a:p>
            <a:r>
              <a:t>正解：左 「台風 {{台風番号}} 号」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  <a:p/>
          <a:p>
            <a:r>
              <a:t>{{台風番号}} は当日の号数、{{別の号数}} はそれらしい別の番号を入れてください。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【第2問】正解：左 「台風 {{台風番号}} 号」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【第3問】問題スライド（答えは次のスライド）</a:t>
            </a:r>
          </a:p>
          <a:p>
            <a:r>
              <a:t>正解：左 「1週間以内」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  <a:p/>
          <a:p>
            <a:r>
              <a:t>正解が「1週間より前」の場合は、correct と dummy を入れ替えてください。やわらげたい場合は『最後にハグしたのは？』でも同じ構成で使えます。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【第3問】正解：左 「1週間以内」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【第4問】問題スライド（答えは次のスライド）</a:t>
            </a:r>
          </a:p>
          <a:p>
            <a:r>
              <a:t>正解：右 「待ち合わせに1時間も遅刻」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【第4問】正解：右 「待ち合わせに1時間も遅刻」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【第5問】問題スライド（答えは次のスライド）</a:t>
            </a:r>
          </a:p>
          <a:p>
            <a:r>
              <a:t>正解：左 「酔って帰ってきてのダル絡み」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【第5問】正解：左 「酔って帰ってきてのダル絡み」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【第6問】問題スライド（答えは次のスライド）</a:t>
            </a:r>
          </a:p>
          <a:p>
            <a:r>
              <a:t>正解：右 「コンビニでアイスを買ってくる」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【第6問】正解：右 「コンビニでアイスを買ってくる」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【第7問】問題スライド（答えは次のスライド）</a:t>
            </a:r>
          </a:p>
          <a:p>
            <a:r>
              <a:t>正解：右 「参鶏湯（サムゲタン）」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【第7問】正解：右 「参鶏湯（サムゲタン）」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【第8問】問題スライド（答えは次のスライド）</a:t>
            </a:r>
          </a:p>
          <a:p>
            <a:r>
              <a:t>正解：左 「こちらの2枚」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  <a:p/>
          <a:p>
            <a:r>
              <a:t>○側の正解＝口が開いている幼少期＋カルピス。ダミー＝AI生成（口が閉じている幼少期＋ワイン。背景のポスターの文字が崩れています）。side を変えると写真も一緒に左右入れ替わります。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【第8問】正解：左 「こちらの2枚」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【第9問】問題スライド（答えは次のスライド）</a:t>
            </a:r>
          </a:p>
          <a:p>
            <a:r>
              <a:t>正解：右 「新郎が社員旅行で左手の薬指を負傷」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【第9問】正解：右 「新郎が社員旅行で左手の薬指を負傷」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【第10問】問題スライド（答えは次のスライド）</a:t>
            </a:r>
          </a:p>
          <a:p>
            <a:r>
              <a:t>正解：左 「ロイヤルファミリー」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【第10問】正解：左 「ロイヤルファミリー」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【第11問】問題スライド（答えは次のスライド）</a:t>
            </a:r>
          </a:p>
          <a:p>
            <a:r>
              <a:t>正解：右 「酔って帰ってきたら、そのまま床で寝ること」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【第11問】正解：右 「酔って帰ってきたら、そのまま床で寝ること」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【第12問】問題スライド（答えは次のスライド）</a:t>
            </a:r>
          </a:p>
          <a:p>
            <a:r>
              <a:t>正解：左 「太らない食生活を手に入れたこと」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【第12問】正解：左 「太らない食生活を手に入れたこと」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不正解だった側（右）の方はお席へどうぞ。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【第13問】問題スライド（答えは次のスライド）</a:t>
            </a:r>
          </a:p>
          <a:p>
            <a:r>
              <a:t>正解：右 「ドラム式洗濯機」</a:t>
            </a:r>
          </a:p>
          <a:p>
            <a:r>
              <a:t>① 問題と左右の答えを読み上げる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答えのスライドへ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【第13問】正解：右 「ドラム式洗濯機」</a:t>
            </a:r>
          </a:p>
          <a:p>
            <a:r>
              <a:t>スライドを表示した瞬間に効果音が鳴り、正解が出ます（クリック不要）。</a:t>
            </a:r>
          </a:p>
          <a:p>
            <a:r>
              <a:t>もう一度クリックすると、下の解説コメントが出ます。</a:t>
            </a:r>
          </a:p>
          <a:p/>
          <a:p>
            <a:r>
              <a:t>不正解だった側（左）の方はお席へどうぞ。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{{優勝者のお名前}} を当日その場で入力するか、口頭で読み上げてください。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スライドを表示した瞬間にBGMが自動再生されます（クリック不要）。</a:t>
            </a:r>
          </a:p>
          <a:p>
            <a:r>
              <a:t>※ 今入っているのは無音のダミー音源です。本番までに差し替えが必要です。</a:t>
            </a:r>
          </a:p>
          <a:p/>
          <a:p>
            <a:r>
              <a:t>【音源の差し替え手順】</a:t>
            </a:r>
          </a:p>
          <a:p>
            <a:r>
              <a:t>1. スライドの左外（グレー部分）にあるスピーカーアイコンを選択して削除</a:t>
            </a:r>
          </a:p>
          <a:p>
            <a:r>
              <a:t>2. [挿入]→[オーディオ]→[このコンピューター上のオーディオ] でインスト音源を挿入</a:t>
            </a:r>
          </a:p>
          <a:p>
            <a:r>
              <a:t>3. 挿入したスピーカーアイコンをスライドの外へドラッグして見えない位置に移動</a:t>
            </a:r>
          </a:p>
          <a:p>
            <a:r>
              <a:t>4. 音声を選択 →[再生]タブ→[開始]を「自動」にする</a:t>
            </a:r>
          </a:p>
          <a:p>
            <a:r>
              <a:t>   （複数スライドにまたがって流したい場合は「スライド切り替え後も再生」にチェック）</a:t>
            </a:r>
          </a:p>
          <a:p/>
          <a:p>
            <a:r>
              <a:t>※ 楽曲そのものはこちらではダウンロードできません（著作権のため）。</a:t>
            </a:r>
          </a:p>
          <a:p>
            <a:r>
              <a:t>　 音源をお送りいただければ、この作業込みで組み込んだものをお渡しします。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スライドを表示すると自動で「ドラムロール」が鳴ります。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スライドを表示すると自動で「ファンファーレ」が鳴ります。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スライドを表示すると自動で「ドラムロール」が鳴ります。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スライドを表示すると自動で「ファンファーレ」が鳴ります。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microsoft.com/office/2007/relationships/media" Target="../media/media2.mp3"/><Relationship Id="rId8" Type="http://schemas.openxmlformats.org/officeDocument/2006/relationships/audio" Target="../media/media2.mp3"/><Relationship Id="rId9" Type="http://schemas.openxmlformats.org/officeDocument/2006/relationships/image" Target="../media/image4.png"/><Relationship Id="rId10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microsoft.com/office/2007/relationships/media" Target="../media/media1.mp3"/><Relationship Id="rId6" Type="http://schemas.openxmlformats.org/officeDocument/2006/relationships/audio" Target="../media/media1.mp3"/><Relationship Id="rId7" Type="http://schemas.openxmlformats.org/officeDocument/2006/relationships/image" Target="../media/image4.png"/><Relationship Id="rId8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4.mp3"/><Relationship Id="rId4" Type="http://schemas.openxmlformats.org/officeDocument/2006/relationships/audio" Target="../media/media4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500000"/>
            <a:ext cx="10392000" cy="9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C9A227"/>
                </a:solidFill>
                <a:latin typeface="Meiryo"/>
              </a:rPr>
              <a:t>新郎新婦のことどれだけ知ってる？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400000"/>
            <a:ext cx="10392000" cy="1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800" b="1" lang="ja-JP" altLang="en-US">
                <a:solidFill>
                  <a:srgbClr val="962C42"/>
                </a:solidFill>
                <a:latin typeface="Meiryo"/>
              </a:rPr>
              <a:t>2択 クイズ大会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200000"/>
            <a:ext cx="10392000" cy="9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1" lang="ja-JP" altLang="en-US">
                <a:solidFill>
                  <a:srgbClr val="3A2E2A"/>
                </a:solidFill>
                <a:latin typeface="Meiryo"/>
              </a:rPr>
              <a:t>→ 中村になろうよ → ビンゴ大会 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今日のクイズは 2択クイズ！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・問題と一緒に、答えの候補が「左」と「右」に出ます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・正しいと思う方へ、会場を移動していただきます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・全13問！　最後まで勝ち残った方は…？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移動のしかた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600000"/>
            <a:ext cx="4650000" cy="23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75000" y="2950000"/>
            <a:ext cx="14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3850000"/>
            <a:ext cx="4650000" cy="11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lang="ja-JP" altLang="en-US">
                <a:solidFill>
                  <a:srgbClr val="3A2E2A"/>
                </a:solidFill>
                <a:latin typeface="Meiryo"/>
              </a:rPr>
              <a:t>左の答えだと思う方は</a:t>
            </a:r>
          </a:p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D94F70"/>
                </a:solidFill>
                <a:latin typeface="Meiryo"/>
              </a:rPr>
              <a:t>画面に向かって 左 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92000" y="2600000"/>
            <a:ext cx="4650000" cy="23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017000" y="2950000"/>
            <a:ext cx="14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2000" y="3850000"/>
            <a:ext cx="4650000" cy="11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lang="ja-JP" altLang="en-US">
                <a:solidFill>
                  <a:srgbClr val="3A2E2A"/>
                </a:solidFill>
                <a:latin typeface="Meiryo"/>
              </a:rPr>
              <a:t>右の答えだと思う方は</a:t>
            </a:r>
          </a:p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34558B"/>
                </a:solidFill>
                <a:latin typeface="Meiryo"/>
              </a:rPr>
              <a:t>画面に向かって 右 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1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A2E2A"/>
                </a:solidFill>
                <a:latin typeface="Meiryo"/>
              </a:rPr>
              <a:t>※ 迷ったときは、まわりの流れに乗ってしまってOKです🙆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大切なお願い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・カウントダウン10秒のあいだに移動を完了してください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・0になったら移動はストップ！🙅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・新郎新婦に答えを聞くのはナシでお願いします😉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・足元にお気をつけて、ゆっくり移動してくださいね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2択クイズ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さあ、スタートです！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今日の披露宴の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司会者のお名前は？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{{ダミーのお名前}} さん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森月子 さん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1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森月子 さん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司会は 森月子 さんです🎤 今日は一日よろしくお願いします！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2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今日、日本に直撃している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台風は何号？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台風 {{台風番号}} 号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台風 {{別の号数}} 号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2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208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台風 {{台風番号}} 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正解は 台風{{台風番号}}号！ こんな日にお越しいただきありがとうございます☔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3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新郎新婦が1番最近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SEXしたのは？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1週間以内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1週間より前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3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208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1週間以内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{{ひとことコメント}}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4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初めてのデートで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新郎がやらかした失敗は？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飲み物を新婦の服にこぼした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待ち合わせに1時間も遅刻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4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待ち合わせに1時間も遅刻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記念すべき初デートでまさかの1時間遅刻…今では笑い話です😅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5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新婦が新郎に『これだけは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やめてほしい』と思っている癖は？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酔って帰ってきてのダル絡み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いびきがうるさい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5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208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酔って帰ってきてのダル絡み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お酒が入るとスイッチが入ってしまうそうです🍺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6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喧嘩したとき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新郎が必ずすることは？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許してもらえるまで土下座する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コンビニでアイスを買ってくる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6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コンビニでアイスを買ってくる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無言でアイスを差し出すのが、新郎なりの仲直りの合図🍦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7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新婦が思う『新郎の手料理で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一番おいしいもの』は？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ガパオライス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参鶏湯（サムゲタン）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7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参鶏湯（サムゲタン）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まさかの本格韓国料理。仕込みから作るそうです🍲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8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0000"/>
            <a:ext cx="10392000" cy="11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4枚のうち2枚はAIが作った写真。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本物の2枚はどっち？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400000"/>
            <a:ext cx="4650000" cy="3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q_child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000" y="2560000"/>
            <a:ext cx="1334000" cy="20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pic>
        <p:nvPicPr>
          <p:cNvPr id="7" name="Picture 6" descr="q_now_re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000" y="2560000"/>
            <a:ext cx="1334000" cy="20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sp>
        <p:nvSpPr>
          <p:cNvPr id="8" name="Left Arrow 7"/>
          <p:cNvSpPr/>
          <p:nvPr/>
        </p:nvSpPr>
        <p:spPr>
          <a:xfrm>
            <a:off x="2975000" y="4650000"/>
            <a:ext cx="1000000" cy="46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0000" y="5120000"/>
            <a:ext cx="4650000" cy="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2000" y="2400000"/>
            <a:ext cx="4650000" cy="31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q_child_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000" y="2560000"/>
            <a:ext cx="1334000" cy="2000000"/>
          </a:xfrm>
          <a:prstGeom prst="rect">
            <a:avLst/>
          </a:prstGeom>
          <a:ln w="25400">
            <a:solidFill>
              <a:srgbClr val="34558B"/>
            </a:solidFill>
          </a:ln>
        </p:spPr>
      </p:pic>
      <p:pic>
        <p:nvPicPr>
          <p:cNvPr id="12" name="Picture 11" descr="q_now_a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000" y="2560000"/>
            <a:ext cx="1334000" cy="2000000"/>
          </a:xfrm>
          <a:prstGeom prst="rect">
            <a:avLst/>
          </a:prstGeom>
          <a:ln w="25400">
            <a:solidFill>
              <a:srgbClr val="34558B"/>
            </a:solidFill>
          </a:ln>
        </p:spPr>
      </p:pic>
      <p:sp>
        <p:nvSpPr>
          <p:cNvPr id="13" name="Right Arrow 12"/>
          <p:cNvSpPr/>
          <p:nvPr/>
        </p:nvSpPr>
        <p:spPr>
          <a:xfrm>
            <a:off x="8217000" y="4650000"/>
            <a:ext cx="1000000" cy="46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2000" y="5120000"/>
            <a:ext cx="4650000" cy="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5" name="Oval 14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7" name="カウントダウンBGM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8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190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96000" y="2620000"/>
            <a:ext cx="5400000" cy="24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q_child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00" y="2780000"/>
            <a:ext cx="1333000" cy="20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pic>
        <p:nvPicPr>
          <p:cNvPr id="8" name="Picture 7" descr="q_now_re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00" y="2780000"/>
            <a:ext cx="1333000" cy="20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1150000" y="5250000"/>
            <a:ext cx="9892000" cy="10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口が開いている方と、カルピスを持っている方が本物でした📷</a:t>
            </a:r>
          </a:p>
        </p:txBody>
      </p:sp>
      <p:pic>
        <p:nvPicPr>
          <p:cNvPr id="10" name="正解発表効果音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9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新郎新婦が入籍前に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やらかしたエピソードは？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新婦が婚約指輪を落として無くした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新郎が社員旅行で左手の薬指を負傷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9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新郎が社員旅行で左手の薬指を負傷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よりによって結婚指輪をはめる指を負傷…😱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10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ドラマが苦手な新郎が、新婦と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唯一最後まで見られたドラマは？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ロイヤルファミリー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VIVANT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10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208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ロイヤルファミリー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これだけは新郎もハマったそうです📺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11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新郎が新婦に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やめてほしいことは？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朝の目覚ましの音が大きすぎること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酔って帰ってきたら、そのまま床で寝ること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11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酔って帰ってきたら、そのまま床で寝ること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ベッドまであと3歩…！🛏️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12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新婦が『新郎と出会ってよかった』と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思っていることは？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太らない食生活を手に入れたこと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新しい趣味が増えたこと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12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D94F70"/>
                </a:solidFill>
                <a:latin typeface="Meiryo"/>
              </a:rPr>
              <a:t>正解は …　左 ！</a:t>
            </a:r>
          </a:p>
        </p:txBody>
      </p:sp>
      <p:sp>
        <p:nvSpPr>
          <p:cNvPr id="5" name="Left Arrow 4"/>
          <p:cNvSpPr/>
          <p:nvPr/>
        </p:nvSpPr>
        <p:spPr>
          <a:xfrm>
            <a:off x="5346000" y="2080000"/>
            <a:ext cx="1500000" cy="7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太らない食生活を手に入れたこと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新郎のおかげで、健康的な毎日になったそうです🥗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最終問題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0392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新郎新婦が</a:t>
            </a:r>
          </a:p>
          <a:p>
            <a:pPr algn="ctr">
              <a:lnSpc>
                <a:spcPct val="118000"/>
              </a:lnSpc>
            </a:pPr>
            <a:r>
              <a:rPr sz="3100" b="1" lang="ja-JP" altLang="en-US">
                <a:solidFill>
                  <a:srgbClr val="3A2E2A"/>
                </a:solidFill>
                <a:latin typeface="Meiryo"/>
              </a:rPr>
              <a:t>今いちばん欲しいものは？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ダイソンの掃除機</a:t>
            </a:r>
          </a:p>
        </p:txBody>
      </p:sp>
      <p:sp>
        <p:nvSpPr>
          <p:cNvPr id="7" name="Left Arrow 6"/>
          <p:cNvSpPr/>
          <p:nvPr/>
        </p:nvSpPr>
        <p:spPr>
          <a:xfrm>
            <a:off x="2875000" y="3080000"/>
            <a:ext cx="1200000" cy="600000"/>
          </a:xfrm>
          <a:prstGeom prst="leftArrow">
            <a:avLst/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D94F70"/>
                </a:solidFill>
                <a:latin typeface="Meiryo"/>
              </a:rPr>
              <a:t>左に移動！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2000" y="2900000"/>
            <a:ext cx="4650000" cy="26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2000" y="3780000"/>
            <a:ext cx="4410000" cy="13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ドラム式洗濯機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7000" y="3080000"/>
            <a:ext cx="1200000" cy="6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2000" y="5080000"/>
            <a:ext cx="4650000" cy="42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4558B"/>
                </a:solidFill>
                <a:latin typeface="Meiryo"/>
              </a:rPr>
              <a:t>右に移動！</a:t>
            </a:r>
          </a:p>
        </p:txBody>
      </p:sp>
      <p:sp>
        <p:nvSpPr>
          <p:cNvPr id="13" name="Oval 12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pic>
        <p:nvPicPr>
          <p:cNvPr id="25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50000" y="5750000"/>
            <a:ext cx="9892000" cy="7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どちらだと思いますか？　カウントダウン10秒のあいだに移動してください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335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第 13 問　こたえ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0000"/>
            <a:ext cx="10392000" cy="76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400" b="1" lang="ja-JP" altLang="en-US">
                <a:solidFill>
                  <a:srgbClr val="34558B"/>
                </a:solidFill>
                <a:latin typeface="Meiryo"/>
              </a:rPr>
              <a:t>正解は …　右 ！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46000" y="2080000"/>
            <a:ext cx="1500000" cy="700000"/>
          </a:xfrm>
          <a:prstGeom prst="rightArrow">
            <a:avLst/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96000" y="2820000"/>
            <a:ext cx="7000000" cy="1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3A2E2A"/>
                </a:solidFill>
                <a:latin typeface="Meiryo"/>
              </a:rPr>
              <a:t>ドラム式洗濯機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0000" y="4820000"/>
            <a:ext cx="9892000" cy="10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Meiryo"/>
              </a:rPr>
              <a:t>ドラム式洗濯機、絶賛募集中です🧺✨</a:t>
            </a:r>
          </a:p>
        </p:txBody>
      </p:sp>
      <p:pic>
        <p:nvPicPr>
          <p:cNvPr id="8" name="正解発表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結果発表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最後まで勝ち残ったのは…？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結果発表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優勝！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{{優勝者のお名前}} 様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250000"/>
            <a:ext cx="10392000" cy="8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lang="ja-JP" altLang="en-US">
                <a:solidFill>
                  <a:srgbClr val="C9A227"/>
                </a:solidFill>
                <a:latin typeface="Meiryo"/>
              </a:rPr>
              <a:t>CEREMONY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05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600" b="1" lang="ja-JP" altLang="en-US">
                <a:solidFill>
                  <a:srgbClr val="962C42"/>
                </a:solidFill>
                <a:latin typeface="Meiryo"/>
              </a:rPr>
              <a:t>中村になろうよ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050000"/>
            <a:ext cx="10392000" cy="11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3A2E2A"/>
                </a:solidFill>
                <a:latin typeface="Meiryo"/>
              </a:rPr>
              <a:t>{{この時間の演出・ひとこと}}</a:t>
            </a:r>
          </a:p>
        </p:txBody>
      </p:sp>
      <p:pic>
        <p:nvPicPr>
          <p:cNvPr id="6" name="中村になろうよ 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お手元のカードをご用意ください🎱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ビンゴ大会 ルール説明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・お手元のビンゴカードをご用意ください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・読み上げられた数字が、カードにあれば穴をあけてください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・あと1つでそろったら「リーチ！」と教えてください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・そろったら「ビンゴ！」と大きな声でお知らせください🎉</a:t>
            </a:r>
          </a:p>
        </p:txBody>
      </p:sp>
      <p:pic>
        <p:nvPicPr>
          <p:cNvPr id="6" name="ドラムロール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まもなくスタート！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ビンゴ大会</a:t>
            </a:r>
          </a:p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スタート！</a:t>
            </a:r>
          </a:p>
        </p:txBody>
      </p:sp>
      <p:pic>
        <p:nvPicPr>
          <p:cNvPr id="6" name="ファンファーレ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リーチ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リーチの方ー！？</a:t>
            </a:r>
          </a:p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手を挙げてくださーい🙌</a:t>
            </a:r>
          </a:p>
        </p:txBody>
      </p:sp>
      <p:pic>
        <p:nvPicPr>
          <p:cNvPr id="6" name="ドラムロール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ビンゴ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ビンゴ！！🎉</a:t>
            </a:r>
          </a:p>
        </p:txBody>
      </p:sp>
      <p:pic>
        <p:nvPicPr>
          <p:cNvPr id="6" name="ファンファーレ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900000"/>
            <a:ext cx="10392000" cy="1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200" b="1" lang="ja-JP" altLang="en-US">
                <a:solidFill>
                  <a:srgbClr val="962C42"/>
                </a:solidFill>
                <a:latin typeface="Meiryo"/>
              </a:rPr>
              <a:t>本日はご列席いただき</a:t>
            </a:r>
          </a:p>
          <a:p>
            <a:pPr algn="ctr">
              <a:lnSpc>
                <a:spcPct val="118000"/>
              </a:lnSpc>
            </a:pPr>
            <a:r>
              <a:rPr sz="4200" b="1" lang="ja-JP" altLang="en-US">
                <a:solidFill>
                  <a:srgbClr val="962C42"/>
                </a:solidFill>
                <a:latin typeface="Meiryo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900000"/>
            <a:ext cx="10392000" cy="12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lang="ja-JP" altLang="en-US">
                <a:solidFill>
                  <a:srgbClr val="3A2E2A"/>
                </a:solidFill>
                <a:latin typeface="Meiryo"/>
              </a:rPr>
              <a:t>これからもふたりをよろしくお願いします🤍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