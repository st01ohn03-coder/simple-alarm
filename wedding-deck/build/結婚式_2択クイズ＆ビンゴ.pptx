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mp3" ContentType="audio/mpeg"/>
  <Override PartName="/ppt/media/media2.mp3" ContentType="audio/mpeg"/>
  <Override PartName="/ppt/media/media3.mp3" ContentType="audio/mpeg"/>
  <Override PartName="/ppt/media/media4.mp3" ContentType="audio/mpe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開演前はこのスライドを映しておいてください。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【第1問】問題スライド（答えは次のスライド）</a:t>
            </a:r>
          </a:p>
          <a:p>
            <a:r>
              <a:t>正解：右 「森月子 さん」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ダミーのお名前は、ご列席者と被らないものにしてください。お名前の漢字・読みもご確認を。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【第1問】正解：右 「森月子 さん」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【第2問】問題スライド（答えは次のスライド）</a:t>
            </a:r>
          </a:p>
          <a:p>
            <a:r>
              <a:t>正解：左 「台風 15 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号数は仮で 15号／18号 にしています。当日の実際の号数に合わせてください。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【第2問】正解：左 「台風 15 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【第3問】問題スライド（答えは次のスライド）</a:t>
            </a:r>
          </a:p>
          <a:p>
            <a:r>
              <a:t>正解：左 「1週間以内」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正解が「1週間より前」の場合は、correct と dummy を入れ替えてください。やわらげたい場合は『最後にハグしたのは？』でも同じ構成で使えます。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【第3問】正解：左 「1週間以内」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【第4問】問題スライド（答えは次のスライド）</a:t>
            </a:r>
          </a:p>
          <a:p>
            <a:r>
              <a:t>正解：右 「待ち合わせに1時間も遅刻」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【第4問】正解：右 「待ち合わせに1時間も遅刻」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【第5問】問題スライド（答えは次のスライド）</a:t>
            </a:r>
          </a:p>
          <a:p>
            <a:r>
              <a:t>正解：左 「酔って帰ってきてのダル絡み」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【第5問】正解：左 「酔って帰ってきてのダル絡み」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【第6問】問題スライド（答えは次のスライド）</a:t>
            </a:r>
          </a:p>
          <a:p>
            <a:r>
              <a:t>正解：右 「コンビニでアイスを買ってくる」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【第6問】正解：右 「コンビニでアイスを買ってくる」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【第7問】問題スライド（答えは次のスライド）</a:t>
            </a:r>
          </a:p>
          <a:p>
            <a:r>
              <a:t>正解：右 「参鶏湯（サムゲタン）」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【第7問】正解：右 「参鶏湯（サムゲタン）」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【第8問】問題スライド（答えは次のスライド）</a:t>
            </a:r>
          </a:p>
          <a:p>
            <a:r>
              <a:t>正解：左 「こちら」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  <a:p/>
          <a:p>
            <a:r>
              <a:t>口を開けている方（髪が立っている方）が正解。side を変えると写真も一緒に左右入れ替わります。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【第8問】正解：左 「こちら」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【第9問】問題スライド（答えは次のスライド）</a:t>
            </a:r>
          </a:p>
          <a:p>
            <a:r>
              <a:t>正解：右 「新郎が社員旅行で左手の薬指を負傷」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【第9問】正解：右 「新郎が社員旅行で左手の薬指を負傷」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【第10問】問題スライド（答えは次のスライド）</a:t>
            </a:r>
          </a:p>
          <a:p>
            <a:r>
              <a:t>正解：左 「ロイヤルファミリー」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【第10問】正解：左 「ロイヤルファミリー」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【第11問】問題スライド（答えは次のスライド）</a:t>
            </a:r>
          </a:p>
          <a:p>
            <a:r>
              <a:t>正解：右 「酔って帰ってきたら、そのまま床で寝ること」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【第11問】正解：右 「酔って帰ってきたら、そのまま床で寝ること」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【第12問】問題スライド（答えは次のスライド）</a:t>
            </a:r>
          </a:p>
          <a:p>
            <a:r>
              <a:t>正解：左 「太らない食生活を手に入れたこと」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【第12問】正解：左 「太らない食生活を手に入れたこと」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不正解だった側（右）の方はお席へどうぞ。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【第13問】問題スライド（答えは次のスライド）</a:t>
            </a:r>
          </a:p>
          <a:p>
            <a:r>
              <a:t>正解：右 「ドラム式洗濯機」</a:t>
            </a:r>
          </a:p>
          <a:p>
            <a:r>
              <a:t>① 問題と左右の答えを読み上げる</a:t>
            </a:r>
          </a:p>
          <a:p>
            <a:r>
              <a:t>② クリック → 10秒カウントダウン（BGMが鳴ります）。会場の皆さまに移動していただく</a:t>
            </a:r>
          </a:p>
          <a:p>
            <a:r>
              <a:t>③ クリック → 答えのスライドへ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【第13問】正解：右 「ドラム式洗濯機」</a:t>
            </a:r>
          </a:p>
          <a:p>
            <a:r>
              <a:t>スライドを表示した瞬間に効果音が鳴り、正解が出ます（クリック不要）。</a:t>
            </a:r>
          </a:p>
          <a:p>
            <a:r>
              <a:t>もう一度クリックすると、下の解説コメントが出ます。</a:t>
            </a:r>
          </a:p>
          <a:p/>
          <a:p>
            <a:r>
              <a:t>不正解だった側（左）の方はお席へどうぞ。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表彰はせず、その場で拍手して次へ進む想定です。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スライドを表示した瞬間にBGMが自動再生されます（クリック不要）。</a:t>
            </a:r>
          </a:p>
          <a:p>
            <a:r>
              <a:t>※ 今入っているのは無音のダミー音源です。本番までに差し替えが必要です。</a:t>
            </a:r>
          </a:p>
          <a:p/>
          <a:p>
            <a:r>
              <a:t>【音源の差し替え手順】</a:t>
            </a:r>
          </a:p>
          <a:p>
            <a:r>
              <a:t>1. スライドの左外（グレー部分）にあるスピーカーアイコンを選択して削除</a:t>
            </a:r>
          </a:p>
          <a:p>
            <a:r>
              <a:t>2. [挿入]→[オーディオ]→[このコンピューター上のオーディオ] でインスト音源を挿入</a:t>
            </a:r>
          </a:p>
          <a:p>
            <a:r>
              <a:t>3. 挿入したスピーカーアイコンをスライドの外へドラッグして見えない位置に移動</a:t>
            </a:r>
          </a:p>
          <a:p>
            <a:r>
              <a:t>4. 音声を選択 →[再生]タブ→[開始]を「自動」にする</a:t>
            </a:r>
          </a:p>
          <a:p>
            <a:r>
              <a:t>   （複数スライドにまたがって流したい場合は「スライド切り替え後も再生」にチェック）</a:t>
            </a:r>
          </a:p>
          <a:p/>
          <a:p>
            <a:r>
              <a:t>※ 楽曲そのものはこちらではダウンロードできません（著作権のため）。</a:t>
            </a:r>
          </a:p>
          <a:p>
            <a:r>
              <a:t>　 音源をお送りいただければ、この作業込みで組み込んだものをお渡しします。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スライドを表示すると自動で「ドラムロール」が鳴ります。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スライドを表示すると自動で「ファンファーレ」が鳴ります。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お開きのごあいさつのあと、このスライドを映したままお見送りへ。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microsoft.com/office/2007/relationships/media" Target="../media/media2.mp3"/><Relationship Id="rId6" Type="http://schemas.openxmlformats.org/officeDocument/2006/relationships/audio" Target="../media/media2.mp3"/><Relationship Id="rId7" Type="http://schemas.openxmlformats.org/officeDocument/2006/relationships/image" Target="../media/image4.png"/><Relationship Id="rId8" Type="http://schemas.openxmlformats.org/officeDocument/2006/relationships/notesSlide" Target="../notesSlides/notesSlide1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jpg"/><Relationship Id="rId4" Type="http://schemas.microsoft.com/office/2007/relationships/media" Target="../media/media1.mp3"/><Relationship Id="rId5" Type="http://schemas.openxmlformats.org/officeDocument/2006/relationships/audio" Target="../media/media1.mp3"/><Relationship Id="rId6" Type="http://schemas.openxmlformats.org/officeDocument/2006/relationships/image" Target="../media/image4.png"/><Relationship Id="rId7" Type="http://schemas.openxmlformats.org/officeDocument/2006/relationships/notesSlide" Target="../notesSlides/notesSlide1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2.mp3"/><Relationship Id="rId4" Type="http://schemas.openxmlformats.org/officeDocument/2006/relationships/audio" Target="../media/media2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8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4.mp3"/><Relationship Id="rId4" Type="http://schemas.openxmlformats.org/officeDocument/2006/relationships/audio" Target="../media/media4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3.mp3"/><Relationship Id="rId4" Type="http://schemas.openxmlformats.org/officeDocument/2006/relationships/audio" Target="../media/media3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microsoft.com/office/2007/relationships/media" Target="../media/media1.mp3"/><Relationship Id="rId4" Type="http://schemas.openxmlformats.org/officeDocument/2006/relationships/audio" Target="../media/media1.mp3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4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1" lang="ja-JP" altLang="en-US">
                <a:solidFill>
                  <a:srgbClr val="C9A227"/>
                </a:solidFill>
                <a:latin typeface="Meiryo"/>
              </a:rPr>
              <a:t>WELCOME TO OUR WEDDING PARTY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2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中村家 結婚二次会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1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本日はお越しいただき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A2E2A"/>
                </a:solidFill>
                <a:latin typeface="Meiryo"/>
              </a:rPr>
              <a:t>ありがとうございます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PROGRAM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本日の流れ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1.　開会のごあいさつ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2.　新郎新婦 ご入場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3.　乾杯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4.　ご歓談・お食事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5.　2択クイズ大会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6.　中村になろうよ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7.　ビンゴ大会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8.　新郎新婦より ごあいさつ</a:t>
            </a:r>
          </a:p>
          <a:p>
            <a:pPr algn="l">
              <a:lnSpc>
                <a:spcPct val="118000"/>
              </a:lnSpc>
            </a:pPr>
            <a:r>
              <a:rPr sz="2200" b="0" lang="ja-JP" altLang="en-US">
                <a:solidFill>
                  <a:srgbClr val="3A2E2A"/>
                </a:solidFill>
                <a:latin typeface="Meiryo"/>
              </a:rPr>
              <a:t>9.　お開き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開会のごあいさつ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幹事より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ご入場！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4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盛大な拍手でお迎えください👏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乾杯！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お飲み物をお持ちください🥂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ご歓談・お食事タイム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どうぞごゆっくりお楽しみください🍽️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2択クイズ大会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新郎新婦のことどれだけ知ってる？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今日のクイズは 2択クイズ！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・問題と一緒に、答えの候補が「左」と「右」に出ます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・正しいと思う方へ、会場を移動していただきます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・全13問！　最後まで勝ち残った方は…？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移動のしかた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Left Arrow 5"/>
          <p:cNvSpPr/>
          <p:nvPr/>
        </p:nvSpPr>
        <p:spPr>
          <a:xfrm>
            <a:off x="2775000" y="2950000"/>
            <a:ext cx="14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0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左の答えだと思う方は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D94F70"/>
                </a:solidFill>
                <a:latin typeface="Meiryo"/>
              </a:rPr>
              <a:t>画面に向かって 左 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92000" y="2600000"/>
            <a:ext cx="4650000" cy="23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ight Arrow 8"/>
          <p:cNvSpPr/>
          <p:nvPr/>
        </p:nvSpPr>
        <p:spPr>
          <a:xfrm>
            <a:off x="8017000" y="2950000"/>
            <a:ext cx="14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92000" y="3850000"/>
            <a:ext cx="4650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000" b="1" lang="ja-JP" altLang="en-US">
                <a:solidFill>
                  <a:srgbClr val="3A2E2A"/>
                </a:solidFill>
                <a:latin typeface="Meiryo"/>
              </a:rPr>
              <a:t>右の答えだと思う方は</a:t>
            </a:r>
          </a:p>
          <a:p>
            <a:pPr algn="ctr">
              <a:lnSpc>
                <a:spcPct val="118000"/>
              </a:lnSpc>
            </a:pPr>
            <a:r>
              <a:rPr sz="2600" b="1" lang="ja-JP" altLang="en-US">
                <a:solidFill>
                  <a:srgbClr val="34558B"/>
                </a:solidFill>
                <a:latin typeface="Meiryo"/>
              </a:rPr>
              <a:t>画面に向かって 右 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51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A2E2A"/>
                </a:solidFill>
                <a:latin typeface="Meiryo"/>
              </a:rPr>
              <a:t>※ 迷ったときは、まわりの流れに乗ってしまってOKです🙆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ルール説明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大切なお願い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・カウントダウン10秒のあいだに移動を完了してください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・0になったら移動はストップ！🙅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・新郎新婦に答えを聞くのはナシでお願いします😉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・足元にお気をつけて、ゆっくり移動してくださいね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今日の披露宴の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司会者のお名前は？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森下 詩織 さん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森月子 さん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司会は 森月子 さんです🎤 今日は一日よろしくお願いします！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今日、日本に直撃している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台風は何号？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15 号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台風 18 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台風 15 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こんな日にお越しいただき、本当にありがとうございます☔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3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新郎新婦が1番最近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SEXしたのは？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1週間より前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3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1週間以内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なんと1週間以内！ お熱いおふたりです🔥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4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初めてのデートで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新郎がやらかした失敗は？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飲み物を新婦の服にこぼした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4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待ち合わせに1時間も遅刻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記念すべき初デートでまさかの1時間遅刻…今では笑い話です😅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5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新婦が新郎に『これだけは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やめてほしい』と思っている癖は？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いびきがうるさい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5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酔って帰ってきてのダル絡み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お酒が入るとスイッチが入ってしまうそうです🍺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6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喧嘩したとき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新郎が必ずすることは？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許してもらえるまで土下座する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6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コンビニでアイスを買ってくる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無言でアイスを差し出すのが、新郎なりの仲直りの合図🍦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7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新婦が思う『新郎の手料理で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一番おいしいもの』は？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ガパオライス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7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参鶏湯（サムゲタン）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まさかの本格韓国料理。仕込みから作るそうです🍲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8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スクリーンに映っている幼少期の写真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新郎はどっち？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6000" y="2280000"/>
            <a:ext cx="2000000" cy="30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7" name="Left Arrow 6"/>
          <p:cNvSpPr/>
          <p:nvPr/>
        </p:nvSpPr>
        <p:spPr>
          <a:xfrm>
            <a:off x="3546000" y="5370000"/>
            <a:ext cx="900000" cy="35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6000" y="2150000"/>
            <a:ext cx="3000000" cy="41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q_child_ai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6000" y="2280000"/>
            <a:ext cx="2000000" cy="3000000"/>
          </a:xfrm>
          <a:prstGeom prst="rect">
            <a:avLst/>
          </a:prstGeom>
          <a:ln w="31750">
            <a:solidFill>
              <a:srgbClr val="34558B"/>
            </a:solidFill>
          </a:ln>
        </p:spPr>
      </p:pic>
      <p:sp>
        <p:nvSpPr>
          <p:cNvPr id="11" name="Right Arrow 10"/>
          <p:cNvSpPr/>
          <p:nvPr/>
        </p:nvSpPr>
        <p:spPr>
          <a:xfrm>
            <a:off x="7746000" y="5370000"/>
            <a:ext cx="900000" cy="35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6000" y="5760000"/>
            <a:ext cx="3000000" cy="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8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00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pic>
        <p:nvPicPr>
          <p:cNvPr id="5" name="Picture 4" descr="q_child_rea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6000" y="1900000"/>
            <a:ext cx="2400000" cy="3600000"/>
          </a:xfrm>
          <a:prstGeom prst="rect">
            <a:avLst/>
          </a:prstGeom>
          <a:ln w="31750">
            <a:solidFill>
              <a:srgbClr val="D94F70"/>
            </a:solidFill>
          </a:ln>
        </p:spPr>
      </p:pic>
      <p:sp>
        <p:nvSpPr>
          <p:cNvPr id="6" name="Left Arrow 5"/>
          <p:cNvSpPr/>
          <p:nvPr/>
        </p:nvSpPr>
        <p:spPr>
          <a:xfrm>
            <a:off x="3276000" y="3420000"/>
            <a:ext cx="1200000" cy="56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50000" y="5650000"/>
            <a:ext cx="9892000" cy="90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口を開けている方が新郎でした！ やんちゃな1歳です👶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9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新郎新婦が入籍前に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やらかしたエピソードは？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新婦が婚約指輪を落として無くした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9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新郎が社員旅行で左手の薬指を負傷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よりによって結婚指輪をはめる指を負傷…😱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10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ドラマが苦手な新郎が、新婦と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唯一最後まで見られたドラマは？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VIVANT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10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ロイヤルファミリー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これだけは新郎もハマったそうです📺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11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新郎が新婦に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やめてほしいことは？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朝の目覚ましの音が大きすぎること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11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酔って帰ってきたら、そのまま床で寝ること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ベッドまであと3歩…！🛏️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第 12 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新婦が『新郎と出会ってよかった』と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思っていることは？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新しい趣味が増えたこと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第 12 問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D94F70"/>
                </a:solidFill>
                <a:latin typeface="Meiryo"/>
              </a:rPr>
              <a:t>正解は …　左 ！</a:t>
            </a:r>
          </a:p>
        </p:txBody>
      </p:sp>
      <p:sp>
        <p:nvSpPr>
          <p:cNvPr id="5" name="Left Arrow 4"/>
          <p:cNvSpPr/>
          <p:nvPr/>
        </p:nvSpPr>
        <p:spPr>
          <a:xfrm>
            <a:off x="5346000" y="2080000"/>
            <a:ext cx="1500000" cy="7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太らない食生活を手に入れたこと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新郎のおかげで、健康的な毎日になったそうです🥗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600" b="1">
                <a:solidFill>
                  <a:srgbClr val="FFFFFF"/>
                </a:solidFill>
                <a:latin typeface="Meiryo"/>
              </a:rPr>
              <a:t>最終問題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400000"/>
            <a:ext cx="10392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新郎新婦が</a:t>
            </a:r>
          </a:p>
          <a:p>
            <a:pPr algn="ctr">
              <a:lnSpc>
                <a:spcPct val="118000"/>
              </a:lnSpc>
            </a:pPr>
            <a:r>
              <a:rPr sz="3100" b="1" lang="ja-JP" altLang="en-US">
                <a:solidFill>
                  <a:srgbClr val="3A2E2A"/>
                </a:solidFill>
                <a:latin typeface="Meiryo"/>
              </a:rPr>
              <a:t>今いちばん欲しいものは？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50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D94F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70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ダイソンの掃除機</a:t>
            </a:r>
          </a:p>
        </p:txBody>
      </p:sp>
      <p:sp>
        <p:nvSpPr>
          <p:cNvPr id="7" name="Left Arrow 6"/>
          <p:cNvSpPr/>
          <p:nvPr/>
        </p:nvSpPr>
        <p:spPr>
          <a:xfrm>
            <a:off x="2875000" y="3080000"/>
            <a:ext cx="1200000" cy="600000"/>
          </a:xfrm>
          <a:prstGeom prst="leftArrow">
            <a:avLst/>
          </a:prstGeom>
          <a:solidFill>
            <a:srgbClr val="D94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0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D94F70"/>
                </a:solidFill>
                <a:latin typeface="Meiryo"/>
              </a:rPr>
              <a:t>左に移動！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92000" y="2900000"/>
            <a:ext cx="4650000" cy="265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2000" y="3780000"/>
            <a:ext cx="4410000" cy="13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500" b="1" lang="ja-JP" altLang="en-US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8117000" y="3080000"/>
            <a:ext cx="1200000" cy="6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2000" y="5080000"/>
            <a:ext cx="4650000" cy="42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800" b="1" lang="ja-JP" altLang="en-US">
                <a:solidFill>
                  <a:srgbClr val="34558B"/>
                </a:solidFill>
                <a:latin typeface="Meiryo"/>
              </a:rPr>
              <a:t>右に移動！</a:t>
            </a:r>
          </a:p>
        </p:txBody>
      </p:sp>
      <p:sp>
        <p:nvSpPr>
          <p:cNvPr id="13" name="Oval 12"/>
          <p:cNvSpPr/>
          <p:nvPr/>
        </p:nvSpPr>
        <p:spPr>
          <a:xfrm>
            <a:off x="10400000" y="250000"/>
            <a:ext cx="1300000" cy="1300000"/>
          </a:xfrm>
          <a:prstGeom prst="ellipse">
            <a:avLst/>
          </a:prstGeom>
          <a:solidFill>
            <a:srgbClr val="962C42"/>
          </a:solidFill>
          <a:ln w="635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00000" y="440000"/>
            <a:ext cx="1300000" cy="90000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  <a:latin typeface="Arial"/>
              </a:rPr>
              <a:t>0</a:t>
            </a:r>
          </a:p>
        </p:txBody>
      </p:sp>
      <p:pic>
        <p:nvPicPr>
          <p:cNvPr id="25" name="カウントダウン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50000" y="5750000"/>
            <a:ext cx="9892000" cy="7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1900" b="1" lang="ja-JP" altLang="en-US">
                <a:solidFill>
                  <a:srgbClr val="3A2E2A"/>
                </a:solidFill>
                <a:latin typeface="Meiryo"/>
              </a:rPr>
              <a:t>どちらだと思いますか？　カウントダウン10秒のあいだに移動してください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24" fill="hold"/>
                                        <p:tgtEl>
                                          <p:spTgt spid="2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xit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xit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40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xit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50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xit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60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7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xit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80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xit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9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xit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10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5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5"/>
                </p:tgtEl>
              </p:cMediaNode>
            </p:audio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qu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335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最終問題　こたえ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180000"/>
            <a:ext cx="10392000" cy="76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3400" b="1" lang="ja-JP" altLang="en-US">
                <a:solidFill>
                  <a:srgbClr val="34558B"/>
                </a:solidFill>
                <a:latin typeface="Meiryo"/>
              </a:rPr>
              <a:t>正解は …　右 ！</a:t>
            </a:r>
          </a:p>
        </p:txBody>
      </p:sp>
      <p:sp>
        <p:nvSpPr>
          <p:cNvPr id="5" name="Right Arrow 4"/>
          <p:cNvSpPr/>
          <p:nvPr/>
        </p:nvSpPr>
        <p:spPr>
          <a:xfrm>
            <a:off x="5346000" y="2080000"/>
            <a:ext cx="1500000" cy="700000"/>
          </a:xfrm>
          <a:prstGeom prst="rightArrow">
            <a:avLst/>
          </a:prstGeom>
          <a:solidFill>
            <a:srgbClr val="3455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596000" y="2820000"/>
            <a:ext cx="7000000" cy="1700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76200">
            <a:solidFill>
              <a:srgbClr val="3455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3A2E2A"/>
                </a:solidFill>
                <a:latin typeface="Meiryo"/>
              </a:rPr>
              <a:t>ドラム式洗濯機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50000" y="4820000"/>
            <a:ext cx="9892000" cy="1050000"/>
          </a:xfrm>
          <a:prstGeom prst="roundRect">
            <a:avLst>
              <a:gd name="adj" fmla="val 25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200" b="1">
                <a:solidFill>
                  <a:srgbClr val="FFFFFF"/>
                </a:solidFill>
                <a:latin typeface="Meiryo"/>
              </a:rPr>
              <a:t>ドラム式洗濯機、絶賛募集中です🧺✨</a:t>
            </a:r>
          </a:p>
        </p:txBody>
      </p:sp>
      <p:pic>
        <p:nvPicPr>
          <p:cNvPr id="8" name="正解発表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26" presetClass="emph" presetSubtype="0" repeatCount="5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 tmFilter="0, 0; .2, .5; .8, .5; 1, 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3" dur="250" autoRev="1" fill="hold"/>
                                        <p:tgtEl>
                                          <p:spTgt spid="6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8"/>
                </p:tgtEl>
              </p:cMediaNode>
            </p:audio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結果発表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最後まで残った方に、大きな拍手を👏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250000"/>
            <a:ext cx="10392000" cy="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C9A227"/>
                </a:solidFill>
                <a:latin typeface="Meiryo"/>
              </a:rPr>
              <a:t>CEREMONY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2050000"/>
            <a:ext cx="10392000" cy="15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600" b="1" lang="ja-JP" altLang="en-US">
                <a:solidFill>
                  <a:srgbClr val="962C42"/>
                </a:solidFill>
                <a:latin typeface="Meiryo"/>
              </a:rPr>
              <a:t>中村になろうよ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4050000"/>
            <a:ext cx="10392000" cy="11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ふたりの新しい名字は「中村」。</a:t>
            </a:r>
          </a:p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ここから、家族になります。</a:t>
            </a:r>
          </a:p>
        </p:txBody>
      </p:sp>
      <p:pic>
        <p:nvPicPr>
          <p:cNvPr id="6" name="中村になろうよ BGM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7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2150000"/>
            <a:ext cx="10392000" cy="145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750000"/>
            <a:ext cx="10392000" cy="7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200" b="0" lang="ja-JP" altLang="en-US">
                <a:solidFill>
                  <a:srgbClr val="F6DFC8"/>
                </a:solidFill>
                <a:latin typeface="Meiryo"/>
              </a:rPr>
              <a:t>お手元のカードをご用意ください🎱</a:t>
            </a:r>
          </a:p>
        </p:txBody>
      </p:sp>
      <p:pic>
        <p:nvPicPr>
          <p:cNvPr id="5" name="セクション効果音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ビンゴ大会 ルール説明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00000" y="2350000"/>
            <a:ext cx="9600000" cy="34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・お手元のビンゴカードをご用意ください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・読み上げられた数字が、カードにあれば穴をあけてください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・あと1つでそろったら「リーチ！」と教えてください</a:t>
            </a:r>
          </a:p>
          <a:p>
            <a:pPr algn="l">
              <a:lnSpc>
                <a:spcPct val="118000"/>
              </a:lnSpc>
            </a:pPr>
            <a:r>
              <a:rPr sz="2500" b="0" lang="ja-JP" altLang="en-US">
                <a:solidFill>
                  <a:srgbClr val="3A2E2A"/>
                </a:solidFill>
                <a:latin typeface="Meiryo"/>
              </a:rPr>
              <a:t>・そろったら「ビンゴ！」と大きな声でお知らせください🎉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まもなくスタート！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ビンゴ大会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スタート！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リーチ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リーチの方ー！？</a:t>
            </a:r>
          </a:p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手を挙げてくださーい🙌</a:t>
            </a:r>
          </a:p>
        </p:txBody>
      </p:sp>
      <p:pic>
        <p:nvPicPr>
          <p:cNvPr id="6" name="ドラムロール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1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bin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620000" y="300000"/>
            <a:ext cx="2500000" cy="820000"/>
          </a:xfrm>
          <a:prstGeom prst="roundRect">
            <a:avLst>
              <a:gd name="adj" fmla="val 50000"/>
            </a:avLst>
          </a:prstGeom>
          <a:solidFill>
            <a:srgbClr val="962C42"/>
          </a:solidFill>
          <a:ln w="381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45000" bIns="45000"/>
          <a:lstStyle/>
          <a:p>
            <a:pPr algn="ctr">
              <a:lnSpc>
                <a:spcPct val="105000"/>
              </a:lnSpc>
            </a:pPr>
            <a:r>
              <a:rPr sz="2400" b="1">
                <a:solidFill>
                  <a:srgbClr val="FFFFFF"/>
                </a:solidFill>
                <a:latin typeface="Meiryo"/>
              </a:rPr>
              <a:t>ビンゴ大会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1250000"/>
            <a:ext cx="10392000" cy="10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000" b="1" lang="ja-JP" altLang="en-US">
                <a:solidFill>
                  <a:srgbClr val="962C42"/>
                </a:solidFill>
                <a:latin typeface="Meiryo"/>
              </a:rPr>
              <a:t>ビンゴ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400000"/>
            <a:ext cx="10392000" cy="2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6000" b="1" lang="ja-JP" altLang="en-US">
                <a:solidFill>
                  <a:srgbClr val="962C42"/>
                </a:solidFill>
                <a:latin typeface="Meiryo"/>
              </a:rPr>
              <a:t>ビンゴ！！🎉</a:t>
            </a:r>
          </a:p>
        </p:txBody>
      </p:sp>
      <p:pic>
        <p:nvPicPr>
          <p:cNvPr id="6" name="ファンファーレ">
            <a:hlinkClick r:id="" action="ppaction://media"/>
          </p:cNvPr>
          <p:cNvPicPr>
            <a:picLocks noChangeAspect="1"/>
          </p:cNvPicPr>
          <p:nvPr>
            <a:audi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-900000" y="200000"/>
            <a:ext cx="406400" cy="406400"/>
          </a:xfrm>
          <a:prstGeom prst="rect">
            <a:avLst/>
          </a:prstGeom>
        </p:spPr>
      </p:pic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69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8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新郎新婦より</a:t>
            </a:r>
          </a:p>
          <a:p>
            <a:pPr algn="ctr">
              <a:lnSpc>
                <a:spcPct val="118000"/>
              </a:lnSpc>
            </a:pPr>
            <a:r>
              <a:rPr sz="5600" b="1" lang="ja-JP" altLang="en-US">
                <a:solidFill>
                  <a:srgbClr val="FFFFFF"/>
                </a:solidFill>
                <a:latin typeface="Meiryo"/>
              </a:rPr>
              <a:t>ごあいさつ</a:t>
            </a:r>
          </a:p>
        </p:txBody>
      </p:sp>
    </p:spTree>
  </p:cSld>
  <p:clrMapOvr>
    <a:masterClrMapping/>
  </p:clrMapOvr>
  <p:transition spd="med">
    <p:fade/>
  </p:transition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0000" y="1900000"/>
            <a:ext cx="10392000" cy="16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本日はお集まりいただき</a:t>
            </a:r>
          </a:p>
          <a:p>
            <a:pPr algn="ctr">
              <a:lnSpc>
                <a:spcPct val="118000"/>
              </a:lnSpc>
            </a:pPr>
            <a:r>
              <a:rPr sz="4200" b="1" lang="ja-JP" altLang="en-US">
                <a:solidFill>
                  <a:srgbClr val="962C42"/>
                </a:solidFill>
                <a:latin typeface="Meiryo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0000" y="3900000"/>
            <a:ext cx="10392000" cy="1200000"/>
          </a:xfrm>
          <a:prstGeom prst="rect">
            <a:avLst/>
          </a:prstGeom>
          <a:noFill/>
        </p:spPr>
        <p:txBody>
          <a:bodyPr wrap="square" anchor="ctr" lIns="90000" rIns="90000" tIns="45000" bIns="45000">
            <a:spAutoFit/>
          </a:bodyPr>
          <a:lstStyle/>
          <a:p>
            <a:pPr algn="ctr">
              <a:lnSpc>
                <a:spcPct val="118000"/>
              </a:lnSpc>
            </a:pPr>
            <a:r>
              <a:rPr sz="2400" b="1" lang="ja-JP" altLang="en-US">
                <a:solidFill>
                  <a:srgbClr val="3A2E2A"/>
                </a:solidFill>
                <a:latin typeface="Meiryo"/>
              </a:rPr>
              <a:t>これからもふたりをよろしくお願いします🤍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