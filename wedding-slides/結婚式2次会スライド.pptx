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開演。BGMを絞って司会が挨拶。名前と日付を本番用に差し替えること。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全体の流れを先に見せる。ビンゴは別アプリで実施する。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第1部の開始。拍手をもらってから始める。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ルール説明。ここは手短に。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を読み上げる。全員が選び終えたら次のスライドで正解を出す。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正解を発表。正解した人に手を挙げてもらい、司会が数える。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を読み上げる。全員が選び終えたら次のスライドで正解を出す。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正解を発表。正解した人に手を挙げてもらい、司会が数える。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を読み上げる。全員が選び終えたら次のスライドで正解を出す。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正解を発表。正解した人に手を挙げてもらい、司会が数える。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を読み上げる。全員が選び終えたら次のスライドで正解を出す。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正解を発表。正解した人に手を挙げてもらい、司会が数える。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幼少期の写真クイズ。4枚を差し替えてから本番に臨むこと。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正解の位置に合わせて赤丸を移動させること。初期状態は A に置いてある。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ニアピン方式。紙とペンを配っておくか、口頭で数人に予想を聞く。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回数を発表。その場で新郎に実演してもらうと盛り上がる。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 を読み上げる。全員が選び終えたら次のスライドで正解を出す。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正解を発表。正解した人に手を挙げてもらい、司会が数える。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正解数を挙手で確認して優勝者を決める。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第2部。ルールが固まったら次のスライドを書き換える。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向井さんとルールを詰めてから、このスライドを完成させる。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ラウンドごとにこのスライドを複製して使う。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勝者を呼んで景品を渡す。写真を撮るなら司会が誘導する。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第3部。抽選は別アプリで行う。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ルール説明のあと、抽選アプリに切り替える。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景品を見せてから抽選に入る。ここから先はビンゴアプリの画面に切り替える。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運営メモ：ここでビンゴアプリの画面に切り替える。終わったら次のスライドに戻る。このスライドは本番前に非表示にしてもよい。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マイクを新郎新婦に渡す。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お開き。BGMを上げて、集合写真の案内をする。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AP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1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1.png"/><Relationship Id="rId5" Type="http://schemas.openxmlformats.org/officeDocument/2006/relationships/image" Target="../media/image-26-3.png"/><Relationship Id="rId6" Type="http://schemas.openxmlformats.org/officeDocument/2006/relationships/image" Target="../media/image-26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05840" y="5394960"/>
            <a:ext cx="640080" cy="640080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0515600" y="5212080"/>
            <a:ext cx="594360" cy="59436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600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Happy Wedding!!</a:t>
            </a:r>
            <a:endParaRPr lang="en-US" sz="3400" dirty="0"/>
          </a:p>
        </p:txBody>
      </p:sp>
      <p:sp>
        <p:nvSpPr>
          <p:cNvPr id="7" name="Text 1"/>
          <p:cNvSpPr txBox="1"/>
          <p:nvPr/>
        </p:nvSpPr>
        <p:spPr>
          <a:xfrm>
            <a:off x="0" y="224028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新郎</a:t>
            </a:r>
            <a:pPr algn="ctr" indent="0" marL="0">
              <a:buNone/>
            </a:pPr>
            <a:r>
              <a:rPr lang="en-US" sz="7600" b="1" dirty="0">
                <a:solidFill>
                  <a:srgbClr val="E7A9A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 &amp; </a:t>
            </a:r>
            <a:pPr algn="ctr" indent="0" marL="0">
              <a:buNone/>
            </a:pPr>
            <a:r>
              <a:rPr lang="en-US" sz="60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新婦</a:t>
            </a:r>
            <a:endParaRPr lang="en-US" sz="6000" dirty="0"/>
          </a:p>
        </p:txBody>
      </p:sp>
      <p:sp>
        <p:nvSpPr>
          <p:cNvPr id="8" name="Text 2"/>
          <p:cNvSpPr txBox="1"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ご結婚おめでとう</a:t>
            </a:r>
            <a:endParaRPr lang="en-US" sz="2600" dirty="0"/>
          </a:p>
        </p:txBody>
      </p:sp>
      <p:sp>
        <p:nvSpPr>
          <p:cNvPr id="9" name="Text 3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2次会、はじまります</a:t>
            </a:r>
            <a:endParaRPr lang="en-US" sz="1700" dirty="0"/>
          </a:p>
        </p:txBody>
      </p:sp>
      <p:sp>
        <p:nvSpPr>
          <p:cNvPr id="10" name="Text 4"/>
          <p:cNvSpPr txBox="1"/>
          <p:nvPr/>
        </p:nvSpPr>
        <p:spPr>
          <a:xfrm rot="-120000">
            <a:off x="4907128" y="48920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名前と日付を入れる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685800" y="640080"/>
            <a:ext cx="502920" cy="50292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972800" y="685800"/>
            <a:ext cx="548640" cy="5486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rot="-36000">
            <a:off x="4510888" y="1386840"/>
            <a:ext cx="3169920" cy="259080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6" name="Text 1"/>
          <p:cNvSpPr txBox="1"/>
          <p:nvPr/>
        </p:nvSpPr>
        <p:spPr>
          <a:xfrm>
            <a:off x="0" y="868680"/>
            <a:ext cx="1219169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今日やること</a:t>
            </a:r>
            <a:endParaRPr lang="en-US" sz="4000" dirty="0"/>
          </a:p>
        </p:txBody>
      </p:sp>
      <p:sp>
        <p:nvSpPr>
          <p:cNvPr id="7" name="Shape 2"/>
          <p:cNvSpPr/>
          <p:nvPr/>
        </p:nvSpPr>
        <p:spPr>
          <a:xfrm rot="-150000">
            <a:off x="868680" y="2286000"/>
            <a:ext cx="3108960" cy="233172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8" name="Image 2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90000">
            <a:off x="1737360" y="2029968"/>
            <a:ext cx="1371600" cy="29718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 rot="-150000">
            <a:off x="86868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4"/>
          <p:cNvSpPr txBox="1"/>
          <p:nvPr/>
        </p:nvSpPr>
        <p:spPr>
          <a:xfrm rot="-150000">
            <a:off x="86868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クイズ大会</a:t>
            </a:r>
            <a:endParaRPr lang="en-US" sz="2400" dirty="0"/>
          </a:p>
        </p:txBody>
      </p:sp>
      <p:sp>
        <p:nvSpPr>
          <p:cNvPr id="11" name="Text 5"/>
          <p:cNvSpPr txBox="1"/>
          <p:nvPr/>
        </p:nvSpPr>
        <p:spPr>
          <a:xfrm rot="-150000">
            <a:off x="105156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ふたりのこと、どれだけ知ってる？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 rot="90000">
            <a:off x="4480560" y="2286000"/>
            <a:ext cx="3108960" cy="2331720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13" name="Image 3" descr="/tmp/claude-0/-home-user-simple-alarm/ebf6364d-67bc-5598-b4f2-0a7550264f85/scratchpad/assets/tape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50000">
            <a:off x="5349240" y="2029968"/>
            <a:ext cx="1371600" cy="2971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 rot="90000">
            <a:off x="448056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8"/>
          <p:cNvSpPr txBox="1"/>
          <p:nvPr/>
        </p:nvSpPr>
        <p:spPr>
          <a:xfrm rot="90000">
            <a:off x="448056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中村になろうよ</a:t>
            </a:r>
            <a:endParaRPr lang="en-US" sz="2400" dirty="0"/>
          </a:p>
        </p:txBody>
      </p:sp>
      <p:sp>
        <p:nvSpPr>
          <p:cNvPr id="16" name="Text 9"/>
          <p:cNvSpPr txBox="1"/>
          <p:nvPr/>
        </p:nvSpPr>
        <p:spPr>
          <a:xfrm rot="90000">
            <a:off x="466344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ルールは当日のお楽しみ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 rot="-60000">
            <a:off x="8092440" y="2286000"/>
            <a:ext cx="3108960" cy="2331720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18" name="Image 4" descr="/tmp/claude-0/-home-user-simple-alarm/ebf6364d-67bc-5598-b4f2-0a7550264f85/scratchpad/assets/tape-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00000">
            <a:off x="8961120" y="2029968"/>
            <a:ext cx="1371600" cy="2971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 rot="-60000">
            <a:off x="809244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2"/>
          <p:cNvSpPr txBox="1"/>
          <p:nvPr/>
        </p:nvSpPr>
        <p:spPr>
          <a:xfrm rot="-60000">
            <a:off x="809244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ビンゴ大会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 rot="-60000">
            <a:off x="827532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景品あります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97280" y="5349240"/>
            <a:ext cx="603504" cy="603504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0607040" y="5257800"/>
            <a:ext cx="548640" cy="54864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 1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 rot="-36000">
            <a:off x="4378808" y="3188208"/>
            <a:ext cx="3434080" cy="336804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0" y="2514600"/>
            <a:ext cx="12191695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クイズ大会</a:t>
            </a:r>
            <a:endParaRPr lang="en-US" sz="5200" dirty="0"/>
          </a:p>
        </p:txBody>
      </p:sp>
      <p:sp>
        <p:nvSpPr>
          <p:cNvPr id="9" name="Text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ふたりのこと、どれだけ知ってる？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11064240" y="731520"/>
            <a:ext cx="50292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36000">
            <a:off x="868680" y="1269492"/>
            <a:ext cx="1505712" cy="246126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822960" y="777240"/>
            <a:ext cx="5486400" cy="8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ルール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 rot="480000">
            <a:off x="914400" y="2167128"/>
            <a:ext cx="201168" cy="201168"/>
          </a:xfrm>
          <a:prstGeom prst="ellipse">
            <a:avLst/>
          </a:prstGeom>
          <a:ln w="22225">
            <a:solidFill>
              <a:srgbClr val="4A3A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325880" y="20574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全部で7問。4択の問題は A〜D から1つ選んで手を挙げてね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 rot="480000">
            <a:off x="914400" y="3035808"/>
            <a:ext cx="201168" cy="201168"/>
          </a:xfrm>
          <a:prstGeom prst="ellipse">
            <a:avLst/>
          </a:prstGeom>
          <a:ln w="22225">
            <a:solidFill>
              <a:srgbClr val="4A3A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325880" y="2926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正解がいちばん多かった人が優勝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 rot="480000">
            <a:off x="914400" y="3904488"/>
            <a:ext cx="201168" cy="201168"/>
          </a:xfrm>
          <a:prstGeom prst="ellipse">
            <a:avLst/>
          </a:prstGeom>
          <a:ln w="22225">
            <a:solidFill>
              <a:srgbClr val="4A3A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325880" y="3794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同点のときは新郎とじゃんけん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 rot="480000">
            <a:off x="914400" y="4773168"/>
            <a:ext cx="201168" cy="201168"/>
          </a:xfrm>
          <a:prstGeom prst="ellipse">
            <a:avLst/>
          </a:prstGeom>
          <a:ln w="22225">
            <a:solidFill>
              <a:srgbClr val="4A3A2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325880" y="46634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優勝した人にはプレゼント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 rot="-120000">
            <a:off x="1325880" y="566928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同点の決め方と景品を確定させる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Q.1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初めてのデートで新郎がやらかした失敗は？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待ち合わせに遅刻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服に値札がついていた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飲み物を新婦の服にこぼした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DFE9F1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店を別日で予約していた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Q.1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初めてのデートで新郎がやらかした失敗は？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待ち合わせに遅刻</a:t>
            </a:r>
            <a:pPr indent="0" marL="0">
              <a:buNone/>
            </a:pPr>
            <a:r>
              <a:rPr lang="en-US" sz="15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  …しかも1時間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9EBE1"/>
          </a:solidFill>
          <a:ln/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服に値札がついていた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FEEDF"/>
          </a:solidFill>
          <a:ln/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飲み物を新婦の服にこぼした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店を別日で予約していた</a:t>
            </a:r>
            <a:endParaRPr lang="en-US" sz="3000" dirty="0"/>
          </a:p>
        </p:txBody>
      </p:sp>
      <p:pic>
        <p:nvPicPr>
          <p:cNvPr id="13" name="Image 0" descr="/tmp/claude-0/-home-user-simple-alarm/ebf6364d-67bc-5598-b4f2-0a7550264f85/scratchpad/assets/circle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32000">
            <a:off x="576072" y="2880360"/>
            <a:ext cx="5431536" cy="1664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 rot="-60000">
            <a:off x="822960" y="239572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正解は A！ 待ち合わせに1時間の遅刻でした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Q.2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新婦が新郎に「これだけはやめて！」と思っている癖は？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酔って帰ってきてダル絡み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いびきがうるさい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服脱ぎっぱなし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DFE9F1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身支度に時間がかかる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Q.2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新婦が新郎に「これだけはやめて！」と思っている癖は？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酔って帰ってきてダル絡み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9EBE1"/>
          </a:solidFill>
          <a:ln/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いびきがうるさい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FEEDF"/>
          </a:solidFill>
          <a:ln/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服脱ぎっぱなし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身支度に時間がかかる</a:t>
            </a:r>
            <a:endParaRPr lang="en-US" sz="3000" dirty="0"/>
          </a:p>
        </p:txBody>
      </p:sp>
      <p:pic>
        <p:nvPicPr>
          <p:cNvPr id="13" name="Image 0" descr="/tmp/claude-0/-home-user-simple-alarm/ebf6364d-67bc-5598-b4f2-0a7550264f85/scratchpad/assets/circle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32000">
            <a:off x="576072" y="2880360"/>
            <a:ext cx="5431536" cy="1664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 rot="-60000">
            <a:off x="822960" y="239572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正解は A！ 酔って帰ってきてダル絡み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Q.3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喧嘩したとき、新郎が必ずすることは？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コンビニでアイスを買ってくる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許してもらえるまで土下座する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義母に助けを求める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DFE9F1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拗ねる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Q.3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喧嘩したとき、新郎が必ずすることは？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コンビニでアイスを買ってくる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9EBE1"/>
          </a:solidFill>
          <a:ln/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許してもらえるまで土下座する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FEEDF"/>
          </a:solidFill>
          <a:ln/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義母に助けを求める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拗ねる</a:t>
            </a:r>
            <a:endParaRPr lang="en-US" sz="3000" dirty="0"/>
          </a:p>
        </p:txBody>
      </p:sp>
      <p:pic>
        <p:nvPicPr>
          <p:cNvPr id="13" name="Image 0" descr="/tmp/claude-0/-home-user-simple-alarm/ebf6364d-67bc-5598-b4f2-0a7550264f85/scratchpad/assets/circle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32000">
            <a:off x="576072" y="2880360"/>
            <a:ext cx="5431536" cy="1664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 rot="-60000">
            <a:off x="822960" y="239572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正解は A！ コンビニでアイスを買ってくる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Q.4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新婦が思う「新郎の手料理でいちばん美味しいもの」は？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参鶏湯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ガパオライス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生姜焼き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DFE9F1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トマトカレー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Q.4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新婦が思う「新郎の手料理でいちばん美味しいもの」は？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参鶏湯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9EBE1"/>
          </a:solidFill>
          <a:ln/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ガパオライス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FEEDF"/>
          </a:solidFill>
          <a:ln/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生姜焼き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トマトカレー</a:t>
            </a:r>
            <a:endParaRPr lang="en-US" sz="3000" dirty="0"/>
          </a:p>
        </p:txBody>
      </p:sp>
      <p:pic>
        <p:nvPicPr>
          <p:cNvPr id="13" name="Image 0" descr="/tmp/claude-0/-home-user-simple-alarm/ebf6364d-67bc-5598-b4f2-0a7550264f85/scratchpad/assets/circle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32000">
            <a:off x="576072" y="2880360"/>
            <a:ext cx="5431536" cy="1664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 rot="-60000">
            <a:off x="822960" y="239572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正解は A！ 参鶏湯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Q.5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この中で、新郎はどれ？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8778240" y="1600200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写真4枚を差し替える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 rot="-180000">
            <a:off x="1051560" y="2971800"/>
            <a:ext cx="2103120" cy="2880360"/>
          </a:xfrm>
          <a:prstGeom prst="rect">
            <a:avLst/>
          </a:prstGeom>
          <a:solidFill>
            <a:srgbClr val="FFFDF7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 rot="-180000">
            <a:off x="1216152" y="3136392"/>
            <a:ext cx="1773936" cy="2011680"/>
          </a:xfrm>
          <a:prstGeom prst="rect">
            <a:avLst/>
          </a:prstGeom>
          <a:solidFill>
            <a:srgbClr val="E9E0CE"/>
          </a:solidFill>
          <a:ln/>
        </p:spPr>
      </p:sp>
      <p:sp>
        <p:nvSpPr>
          <p:cNvPr id="8" name="Text 5"/>
          <p:cNvSpPr txBox="1"/>
          <p:nvPr/>
        </p:nvSpPr>
        <p:spPr>
          <a:xfrm rot="-180000">
            <a:off x="121615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 rot="-180000">
            <a:off x="105156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D6A5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endParaRPr lang="en-US" sz="3000" dirty="0"/>
          </a:p>
        </p:txBody>
      </p:sp>
      <p:pic>
        <p:nvPicPr>
          <p:cNvPr id="10" name="Image 0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554480" y="2788920"/>
            <a:ext cx="1097280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 rot="120000">
            <a:off x="3703320" y="2971800"/>
            <a:ext cx="2103120" cy="2880360"/>
          </a:xfrm>
          <a:prstGeom prst="rect">
            <a:avLst/>
          </a:prstGeom>
          <a:solidFill>
            <a:srgbClr val="FFFDF7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 rot="120000">
            <a:off x="3867912" y="3136392"/>
            <a:ext cx="1773936" cy="2011680"/>
          </a:xfrm>
          <a:prstGeom prst="rect">
            <a:avLst/>
          </a:prstGeom>
          <a:solidFill>
            <a:srgbClr val="E9E0CE"/>
          </a:solidFill>
          <a:ln/>
        </p:spPr>
      </p:sp>
      <p:sp>
        <p:nvSpPr>
          <p:cNvPr id="13" name="Text 9"/>
          <p:cNvSpPr txBox="1"/>
          <p:nvPr/>
        </p:nvSpPr>
        <p:spPr>
          <a:xfrm rot="120000">
            <a:off x="386791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 rot="120000">
            <a:off x="370332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D6A5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endParaRPr lang="en-US" sz="3000" dirty="0"/>
          </a:p>
        </p:txBody>
      </p:sp>
      <p:pic>
        <p:nvPicPr>
          <p:cNvPr id="15" name="Image 1" descr="/tmp/claude-0/-home-user-simple-alarm/ebf6364d-67bc-5598-b4f2-0a7550264f85/scratchpad/assets/tap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">
            <a:off x="4206240" y="2788920"/>
            <a:ext cx="1097280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 rot="-90000">
            <a:off x="6355080" y="2971800"/>
            <a:ext cx="2103120" cy="2880360"/>
          </a:xfrm>
          <a:prstGeom prst="rect">
            <a:avLst/>
          </a:prstGeom>
          <a:solidFill>
            <a:srgbClr val="FFFDF7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 rot="-90000">
            <a:off x="6519672" y="3136392"/>
            <a:ext cx="1773936" cy="2011680"/>
          </a:xfrm>
          <a:prstGeom prst="rect">
            <a:avLst/>
          </a:prstGeom>
          <a:solidFill>
            <a:srgbClr val="E9E0CE"/>
          </a:solidFill>
          <a:ln/>
        </p:spPr>
      </p:sp>
      <p:sp>
        <p:nvSpPr>
          <p:cNvPr id="18" name="Text 13"/>
          <p:cNvSpPr txBox="1"/>
          <p:nvPr/>
        </p:nvSpPr>
        <p:spPr>
          <a:xfrm rot="-90000">
            <a:off x="651967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 rot="-90000">
            <a:off x="635508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D6A5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endParaRPr lang="en-US" sz="3000" dirty="0"/>
          </a:p>
        </p:txBody>
      </p:sp>
      <p:pic>
        <p:nvPicPr>
          <p:cNvPr id="20" name="Image 2" descr="/tmp/claude-0/-home-user-simple-alarm/ebf6364d-67bc-5598-b4f2-0a7550264f85/scratchpad/assets/tape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90000">
            <a:off x="6858000" y="2788920"/>
            <a:ext cx="1097280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 rot="180000">
            <a:off x="9006840" y="2971800"/>
            <a:ext cx="2103120" cy="2880360"/>
          </a:xfrm>
          <a:prstGeom prst="rect">
            <a:avLst/>
          </a:prstGeom>
          <a:solidFill>
            <a:srgbClr val="FFFDF7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 rot="180000">
            <a:off x="9171432" y="3136392"/>
            <a:ext cx="1773936" cy="2011680"/>
          </a:xfrm>
          <a:prstGeom prst="rect">
            <a:avLst/>
          </a:prstGeom>
          <a:solidFill>
            <a:srgbClr val="E9E0CE"/>
          </a:solidFill>
          <a:ln/>
        </p:spPr>
      </p:sp>
      <p:sp>
        <p:nvSpPr>
          <p:cNvPr id="23" name="Text 17"/>
          <p:cNvSpPr txBox="1"/>
          <p:nvPr/>
        </p:nvSpPr>
        <p:spPr>
          <a:xfrm rot="180000">
            <a:off x="917143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 rot="180000">
            <a:off x="900684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D6A5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endParaRPr lang="en-US" sz="3000" dirty="0"/>
          </a:p>
        </p:txBody>
      </p:sp>
      <p:pic>
        <p:nvPicPr>
          <p:cNvPr id="25" name="Image 3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20000">
            <a:off x="9509760" y="2788920"/>
            <a:ext cx="109728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Q.5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この中で、新郎はどれ？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180000">
            <a:off x="1051560" y="2971800"/>
            <a:ext cx="2103120" cy="2880360"/>
          </a:xfrm>
          <a:prstGeom prst="rect">
            <a:avLst/>
          </a:prstGeom>
          <a:solidFill>
            <a:srgbClr val="FFFDF7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 rot="-180000">
            <a:off x="1216152" y="3136392"/>
            <a:ext cx="1773936" cy="2011680"/>
          </a:xfrm>
          <a:prstGeom prst="rect">
            <a:avLst/>
          </a:prstGeom>
          <a:solidFill>
            <a:srgbClr val="E9E0CE"/>
          </a:solidFill>
          <a:ln/>
        </p:spPr>
      </p:sp>
      <p:sp>
        <p:nvSpPr>
          <p:cNvPr id="7" name="Text 4"/>
          <p:cNvSpPr txBox="1"/>
          <p:nvPr/>
        </p:nvSpPr>
        <p:spPr>
          <a:xfrm rot="-180000">
            <a:off x="121615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 rot="-180000">
            <a:off x="105156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D6A5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endParaRPr lang="en-US" sz="3000" dirty="0"/>
          </a:p>
        </p:txBody>
      </p:sp>
      <p:pic>
        <p:nvPicPr>
          <p:cNvPr id="9" name="Image 0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554480" y="2788920"/>
            <a:ext cx="1097280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 rot="120000">
            <a:off x="3703320" y="2971800"/>
            <a:ext cx="2103120" cy="2880360"/>
          </a:xfrm>
          <a:prstGeom prst="rect">
            <a:avLst/>
          </a:prstGeom>
          <a:solidFill>
            <a:srgbClr val="F3EDE2"/>
          </a:solidFill>
          <a:ln/>
        </p:spPr>
      </p:sp>
      <p:sp>
        <p:nvSpPr>
          <p:cNvPr id="11" name="Shape 7"/>
          <p:cNvSpPr/>
          <p:nvPr/>
        </p:nvSpPr>
        <p:spPr>
          <a:xfrm rot="120000">
            <a:off x="3867912" y="3136392"/>
            <a:ext cx="1773936" cy="2011680"/>
          </a:xfrm>
          <a:prstGeom prst="rect">
            <a:avLst/>
          </a:prstGeom>
          <a:solidFill>
            <a:srgbClr val="EDE7DB"/>
          </a:solidFill>
          <a:ln/>
        </p:spPr>
      </p:sp>
      <p:sp>
        <p:nvSpPr>
          <p:cNvPr id="12" name="Text 8"/>
          <p:cNvSpPr txBox="1"/>
          <p:nvPr/>
        </p:nvSpPr>
        <p:spPr>
          <a:xfrm rot="120000">
            <a:off x="386791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B5A2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 rot="120000">
            <a:off x="370332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endParaRPr lang="en-US" sz="3000" dirty="0"/>
          </a:p>
        </p:txBody>
      </p:sp>
      <p:pic>
        <p:nvPicPr>
          <p:cNvPr id="14" name="Image 1" descr="/tmp/claude-0/-home-user-simple-alarm/ebf6364d-67bc-5598-b4f2-0a7550264f85/scratchpad/assets/tap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">
            <a:off x="4206240" y="2788920"/>
            <a:ext cx="1097280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rot="-90000">
            <a:off x="6355080" y="2971800"/>
            <a:ext cx="2103120" cy="2880360"/>
          </a:xfrm>
          <a:prstGeom prst="rect">
            <a:avLst/>
          </a:prstGeom>
          <a:solidFill>
            <a:srgbClr val="F3EDE2"/>
          </a:solidFill>
          <a:ln/>
        </p:spPr>
      </p:sp>
      <p:sp>
        <p:nvSpPr>
          <p:cNvPr id="16" name="Shape 11"/>
          <p:cNvSpPr/>
          <p:nvPr/>
        </p:nvSpPr>
        <p:spPr>
          <a:xfrm rot="-90000">
            <a:off x="6519672" y="3136392"/>
            <a:ext cx="1773936" cy="2011680"/>
          </a:xfrm>
          <a:prstGeom prst="rect">
            <a:avLst/>
          </a:prstGeom>
          <a:solidFill>
            <a:srgbClr val="EDE7DB"/>
          </a:solidFill>
          <a:ln/>
        </p:spPr>
      </p:sp>
      <p:sp>
        <p:nvSpPr>
          <p:cNvPr id="17" name="Text 12"/>
          <p:cNvSpPr txBox="1"/>
          <p:nvPr/>
        </p:nvSpPr>
        <p:spPr>
          <a:xfrm rot="-90000">
            <a:off x="651967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B5A2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 rot="-90000">
            <a:off x="635508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endParaRPr lang="en-US" sz="3000" dirty="0"/>
          </a:p>
        </p:txBody>
      </p:sp>
      <p:pic>
        <p:nvPicPr>
          <p:cNvPr id="19" name="Image 2" descr="/tmp/claude-0/-home-user-simple-alarm/ebf6364d-67bc-5598-b4f2-0a7550264f85/scratchpad/assets/tape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90000">
            <a:off x="6858000" y="2788920"/>
            <a:ext cx="1097280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 rot="180000">
            <a:off x="9006840" y="2971800"/>
            <a:ext cx="2103120" cy="2880360"/>
          </a:xfrm>
          <a:prstGeom prst="rect">
            <a:avLst/>
          </a:prstGeom>
          <a:solidFill>
            <a:srgbClr val="F3EDE2"/>
          </a:solidFill>
          <a:ln/>
        </p:spPr>
      </p:sp>
      <p:sp>
        <p:nvSpPr>
          <p:cNvPr id="21" name="Shape 15"/>
          <p:cNvSpPr/>
          <p:nvPr/>
        </p:nvSpPr>
        <p:spPr>
          <a:xfrm rot="180000">
            <a:off x="9171432" y="3136392"/>
            <a:ext cx="1773936" cy="2011680"/>
          </a:xfrm>
          <a:prstGeom prst="rect">
            <a:avLst/>
          </a:prstGeom>
          <a:solidFill>
            <a:srgbClr val="EDE7DB"/>
          </a:solidFill>
          <a:ln/>
        </p:spPr>
      </p:sp>
      <p:sp>
        <p:nvSpPr>
          <p:cNvPr id="22" name="Text 16"/>
          <p:cNvSpPr txBox="1"/>
          <p:nvPr/>
        </p:nvSpPr>
        <p:spPr>
          <a:xfrm rot="180000">
            <a:off x="9171432" y="3136392"/>
            <a:ext cx="1773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B5A2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ここに写真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 rot="180000">
            <a:off x="9006840" y="5193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endParaRPr lang="en-US" sz="3000" dirty="0"/>
          </a:p>
        </p:txBody>
      </p:sp>
      <p:pic>
        <p:nvPicPr>
          <p:cNvPr id="24" name="Image 3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20000">
            <a:off x="9509760" y="2788920"/>
            <a:ext cx="1097280" cy="237744"/>
          </a:xfrm>
          <a:prstGeom prst="rect">
            <a:avLst/>
          </a:prstGeom>
        </p:spPr>
      </p:pic>
      <p:pic>
        <p:nvPicPr>
          <p:cNvPr id="25" name="Image 4" descr="/tmp/claude-0/-home-user-simple-alarm/ebf6364d-67bc-5598-b4f2-0a7550264f85/scratchpad/assets/circle-ta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80000">
            <a:off x="795528" y="2743200"/>
            <a:ext cx="2615184" cy="33375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 rot="-60000">
            <a:off x="82296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正解はこの子！</a:t>
            </a:r>
            <a:endParaRPr lang="en-US" sz="2300" dirty="0"/>
          </a:p>
        </p:txBody>
      </p:sp>
      <p:sp>
        <p:nvSpPr>
          <p:cNvPr id="27" name="Text 19"/>
          <p:cNvSpPr txBox="1"/>
          <p:nvPr/>
        </p:nvSpPr>
        <p:spPr>
          <a:xfrm rot="-120000">
            <a:off x="8778240" y="1600200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赤丸を正解の位置へ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Q.6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新郎は腕立て伏せを何回できる？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4871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いちばん近い数字を答えた人が正解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 rot="-150000">
            <a:off x="1417320" y="3337560"/>
            <a:ext cx="2743200" cy="210312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7" name="Image 0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90000">
            <a:off x="2240280" y="3136392"/>
            <a:ext cx="1097280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 rot="-150000">
            <a:off x="1417320" y="3593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 rot="-150000">
            <a:off x="1554480" y="4206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数字を予想して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紙に書く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90000">
            <a:off x="4617720" y="3337560"/>
            <a:ext cx="2743200" cy="2103120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11" name="Image 1" descr="/tmp/claude-0/-home-user-simple-alarm/ebf6364d-67bc-5598-b4f2-0a7550264f85/scratchpad/assets/tap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50000">
            <a:off x="5440680" y="3136392"/>
            <a:ext cx="1097280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 rot="90000">
            <a:off x="4617720" y="3593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8"/>
          <p:cNvSpPr txBox="1"/>
          <p:nvPr/>
        </p:nvSpPr>
        <p:spPr>
          <a:xfrm rot="90000">
            <a:off x="4754880" y="4206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せーの、で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いっせいに見せる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-60000">
            <a:off x="7818120" y="3337560"/>
            <a:ext cx="2743200" cy="2103120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15" name="Image 2" descr="/tmp/claude-0/-home-user-simple-alarm/ebf6364d-67bc-5598-b4f2-0a7550264f85/scratchpad/assets/tape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00000">
            <a:off x="8641080" y="3136392"/>
            <a:ext cx="1097280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 rot="-60000">
            <a:off x="7818120" y="3593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1"/>
          <p:cNvSpPr txBox="1"/>
          <p:nvPr/>
        </p:nvSpPr>
        <p:spPr>
          <a:xfrm rot="-60000">
            <a:off x="7955280" y="4206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いちばん近い人が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優勝</a:t>
            </a:r>
            <a:endParaRPr lang="en-US" sz="1600" dirty="0"/>
          </a:p>
        </p:txBody>
      </p:sp>
      <p:pic>
        <p:nvPicPr>
          <p:cNvPr id="18" name="Image 3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20000">
            <a:off x="10972800" y="1371600"/>
            <a:ext cx="566928" cy="566928"/>
          </a:xfrm>
          <a:prstGeom prst="rect">
            <a:avLst/>
          </a:prstGeom>
        </p:spPr>
      </p:pic>
      <p:pic>
        <p:nvPicPr>
          <p:cNvPr id="19" name="Image 4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00000">
            <a:off x="640080" y="5852160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Q.6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新郎は腕立て伏せを何回できる？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 rot="-60000">
            <a:off x="822960" y="24871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正解は…</a:t>
            </a:r>
            <a:endParaRPr lang="en-US" sz="2300" dirty="0"/>
          </a:p>
        </p:txBody>
      </p:sp>
      <p:pic>
        <p:nvPicPr>
          <p:cNvPr id="6" name="Image 0" descr="/tmp/claude-0/-home-user-simple-alarm/ebf6364d-67bc-5598-b4f2-0a7550264f85/scratchpad/assets/circl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20000">
            <a:off x="3950208" y="3246120"/>
            <a:ext cx="4297680" cy="2377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 rot="-120000">
            <a:off x="3950208" y="324612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？？回</a:t>
            </a:r>
            <a:endParaRPr lang="en-US" sz="6600" dirty="0"/>
          </a:p>
        </p:txBody>
      </p:sp>
      <p:sp>
        <p:nvSpPr>
          <p:cNvPr id="8" name="Text 4"/>
          <p:cNvSpPr txBox="1"/>
          <p:nvPr/>
        </p:nvSpPr>
        <p:spPr>
          <a:xfrm rot="-120000">
            <a:off x="5001768" y="5806440"/>
            <a:ext cx="219456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回数を入れる</a:t>
            </a:r>
            <a:endParaRPr lang="en-US" sz="1100" dirty="0"/>
          </a:p>
        </p:txBody>
      </p:sp>
      <p:pic>
        <p:nvPicPr>
          <p:cNvPr id="9" name="Image 1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10881360" y="3840480"/>
            <a:ext cx="603504" cy="603504"/>
          </a:xfrm>
          <a:prstGeom prst="rect">
            <a:avLst/>
          </a:prstGeom>
        </p:spPr>
      </p:pic>
      <p:pic>
        <p:nvPicPr>
          <p:cNvPr id="10" name="Image 2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914400" y="40233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Q.7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ふたりが入籍前にやらかしたエピソードは？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新郎が社員旅行で左手薬指を負傷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新婦が婚約指輪を落として無くしてしまう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新郎が入籍日前日に終電を逃す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DFE9F1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6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新婦が義両親との顔合わせの日に道に迷って遅刻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240000">
            <a:off x="82296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Q.7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ふたりが入籍前にやらかしたエピソードは？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 rot="-72000">
            <a:off x="777240" y="3063240"/>
            <a:ext cx="5029200" cy="1298448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72000">
            <a:off x="103327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新郎が社員旅行で左手薬指を負傷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 rot="48000">
            <a:off x="6355080" y="3063240"/>
            <a:ext cx="5029200" cy="1298448"/>
          </a:xfrm>
          <a:prstGeom prst="rect">
            <a:avLst/>
          </a:prstGeom>
          <a:solidFill>
            <a:srgbClr val="F9EBE1"/>
          </a:solidFill>
          <a:ln/>
        </p:spPr>
      </p:sp>
      <p:sp>
        <p:nvSpPr>
          <p:cNvPr id="8" name="Text 5"/>
          <p:cNvSpPr txBox="1"/>
          <p:nvPr/>
        </p:nvSpPr>
        <p:spPr>
          <a:xfrm rot="48000">
            <a:off x="6611112" y="306324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新婦が婚約指輪を落として無くしてしまう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 rot="36000">
            <a:off x="777240" y="4617720"/>
            <a:ext cx="5029200" cy="1298448"/>
          </a:xfrm>
          <a:prstGeom prst="rect">
            <a:avLst/>
          </a:prstGeom>
          <a:solidFill>
            <a:srgbClr val="EFEEDF"/>
          </a:solidFill>
          <a:ln/>
        </p:spPr>
      </p:sp>
      <p:sp>
        <p:nvSpPr>
          <p:cNvPr id="10" name="Text 7"/>
          <p:cNvSpPr txBox="1"/>
          <p:nvPr/>
        </p:nvSpPr>
        <p:spPr>
          <a:xfrm rot="36000">
            <a:off x="103327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新郎が入籍日前日に終電を逃す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-54000">
            <a:off x="6355080" y="4617720"/>
            <a:ext cx="5029200" cy="129844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12" name="Text 9"/>
          <p:cNvSpPr txBox="1"/>
          <p:nvPr/>
        </p:nvSpPr>
        <p:spPr>
          <a:xfrm rot="-54000">
            <a:off x="6611112" y="4617720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9AE9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indent="0" marL="0">
              <a:buNone/>
            </a:pPr>
            <a:r>
              <a:rPr lang="en-US" sz="1600" dirty="0">
                <a:solidFill>
                  <a:srgbClr val="A99C8B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  新婦が義両親との顔合わせの日に道に迷って遅刻</a:t>
            </a:r>
            <a:endParaRPr lang="en-US" sz="3000" dirty="0"/>
          </a:p>
        </p:txBody>
      </p:sp>
      <p:pic>
        <p:nvPicPr>
          <p:cNvPr id="13" name="Image 0" descr="/tmp/claude-0/-home-user-simple-alarm/ebf6364d-67bc-5598-b4f2-0a7550264f85/scratchpad/assets/circle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32000">
            <a:off x="576072" y="2880360"/>
            <a:ext cx="5431536" cy="1664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 rot="-60000">
            <a:off x="822960" y="239572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9534F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正解は A！ 社員旅行で左手薬指を負傷…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97280" y="5349240"/>
            <a:ext cx="603504" cy="603504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0607040" y="5257800"/>
            <a:ext cx="548640" cy="54864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Result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 rot="-36000">
            <a:off x="4722216" y="3188208"/>
            <a:ext cx="2747264" cy="336804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0" y="2514600"/>
            <a:ext cx="12191695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結果発表</a:t>
            </a:r>
            <a:endParaRPr lang="en-US" sz="5200" dirty="0"/>
          </a:p>
        </p:txBody>
      </p:sp>
      <p:sp>
        <p:nvSpPr>
          <p:cNvPr id="9" name="Text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いちばん正解した人は前へどうぞ！</a:t>
            </a:r>
            <a:endParaRPr lang="en-US" sz="1900" dirty="0"/>
          </a:p>
        </p:txBody>
      </p:sp>
      <p:sp>
        <p:nvSpPr>
          <p:cNvPr id="10" name="Text 4"/>
          <p:cNvSpPr txBox="1"/>
          <p:nvPr/>
        </p:nvSpPr>
        <p:spPr>
          <a:xfrm>
            <a:off x="2377440" y="5029200"/>
            <a:ext cx="7406640" cy="822960"/>
          </a:xfrm>
          <a:prstGeom prst="roundRect">
            <a:avLst>
              <a:gd name="adj" fmla="val 6667"/>
            </a:avLst>
          </a:prstGeom>
          <a:solidFill>
            <a:srgbClr val="FFFDF7"/>
          </a:solidFill>
          <a:ln w="15875">
            <a:solidFill>
              <a:srgbClr val="A9C6D9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優勝者の決め方と景品をここに書く。「るい or るいぴー」の質問を入れるなら Q7 までのどこかに追加。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97280" y="5349240"/>
            <a:ext cx="603504" cy="603504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0607040" y="5257800"/>
            <a:ext cx="548640" cy="54864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 2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 rot="-36000">
            <a:off x="3691992" y="3188208"/>
            <a:ext cx="4807712" cy="336804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0" y="2514600"/>
            <a:ext cx="12191695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中村になろうよ</a:t>
            </a:r>
            <a:endParaRPr lang="en-US" sz="5200" dirty="0"/>
          </a:p>
        </p:txBody>
      </p:sp>
      <p:sp>
        <p:nvSpPr>
          <p:cNvPr id="9" name="Text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今日だけ、みんな中村家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-36000">
            <a:off x="868680" y="1269492"/>
            <a:ext cx="1505712" cy="246126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777240"/>
            <a:ext cx="3657600" cy="8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ルール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4023360" y="96012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ゲーム内容の確定待ち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10515600" cy="3794760"/>
          </a:xfrm>
          <a:prstGeom prst="roundRect">
            <a:avLst>
              <a:gd name="adj" fmla="val 1446"/>
            </a:avLst>
          </a:prstGeom>
          <a:solidFill>
            <a:srgbClr val="FFFDF7"/>
          </a:solidFill>
          <a:ln w="19050">
            <a:solidFill>
              <a:srgbClr val="A9C6D9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123444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決めることリスト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 rot="-240000">
            <a:off x="1280160" y="3017520"/>
            <a:ext cx="219456" cy="219456"/>
          </a:xfrm>
          <a:prstGeom prst="rect">
            <a:avLst/>
          </a:prstGeom>
          <a:ln w="19050">
            <a:solidFill>
              <a:srgbClr val="7D6A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9164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参加人数・参加者の選び方（全員？代表者？）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 rot="-240000">
            <a:off x="1280160" y="3675888"/>
            <a:ext cx="219456" cy="219456"/>
          </a:xfrm>
          <a:prstGeom prst="rect">
            <a:avLst/>
          </a:prstGeom>
          <a:ln w="19050">
            <a:solidFill>
              <a:srgbClr val="7D6A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91640" y="35844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何をしたら「中村になれる」のか（お題・勝敗条件）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 rot="-240000">
            <a:off x="1280160" y="4334256"/>
            <a:ext cx="219456" cy="219456"/>
          </a:xfrm>
          <a:prstGeom prst="rect">
            <a:avLst/>
          </a:prstGeom>
          <a:ln w="19050">
            <a:solidFill>
              <a:srgbClr val="7D6A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9164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ラウンド数と1ラウンドの時間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 rot="-240000">
            <a:off x="1280160" y="4992624"/>
            <a:ext cx="219456" cy="219456"/>
          </a:xfrm>
          <a:prstGeom prst="rect">
            <a:avLst/>
          </a:prstGeom>
          <a:ln w="19050">
            <a:solidFill>
              <a:srgbClr val="7D6A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91640" y="490118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必要な小道具・BGM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 rot="-180000">
            <a:off x="822960" y="685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Round 1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 rot="-36000">
            <a:off x="868680" y="2124456"/>
            <a:ext cx="1162304" cy="284988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36576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お題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 rot="-120000">
            <a:off x="4206240" y="182880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お題を入れる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 rot="-60000">
            <a:off x="1463040" y="3017520"/>
            <a:ext cx="9235440" cy="274320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8" name="Image 0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00000">
            <a:off x="5486400" y="2788920"/>
            <a:ext cx="1463040" cy="3169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 rot="-60000">
            <a:off x="1463040" y="3017520"/>
            <a:ext cx="9235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お題・制限時間・判定方法をここに書く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97280" y="5349240"/>
            <a:ext cx="603504" cy="603504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0607040" y="5257800"/>
            <a:ext cx="548640" cy="54864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Result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 rot="-36000">
            <a:off x="2318360" y="3188208"/>
            <a:ext cx="7554976" cy="336804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0" y="2514600"/>
            <a:ext cx="12191695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中村家、新メンバー発表</a:t>
            </a:r>
            <a:endParaRPr lang="en-US" sz="5200" dirty="0"/>
          </a:p>
        </p:txBody>
      </p:sp>
      <p:sp>
        <p:nvSpPr>
          <p:cNvPr id="9" name="Text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おめでとうございます！</a:t>
            </a:r>
            <a:endParaRPr lang="en-US" sz="1900" dirty="0"/>
          </a:p>
        </p:txBody>
      </p:sp>
      <p:sp>
        <p:nvSpPr>
          <p:cNvPr id="10" name="Text 4"/>
          <p:cNvSpPr txBox="1"/>
          <p:nvPr/>
        </p:nvSpPr>
        <p:spPr>
          <a:xfrm rot="-120000">
            <a:off x="4541368" y="502920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発表の演出と景品を決める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97280" y="5349240"/>
            <a:ext cx="603504" cy="603504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0607040" y="5257800"/>
            <a:ext cx="548640" cy="54864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 3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 rot="-36000">
            <a:off x="4378808" y="3188208"/>
            <a:ext cx="3434080" cy="336804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0" y="2514600"/>
            <a:ext cx="12191695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ビンゴ大会</a:t>
            </a:r>
            <a:endParaRPr lang="en-US" sz="5200" dirty="0"/>
          </a:p>
        </p:txBody>
      </p:sp>
      <p:sp>
        <p:nvSpPr>
          <p:cNvPr id="9" name="Text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カードの準備はいいですか？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11064240" y="731520"/>
            <a:ext cx="50292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36000">
            <a:off x="868680" y="1269492"/>
            <a:ext cx="1505712" cy="246126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822960" y="777240"/>
            <a:ext cx="5486400" cy="8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ルール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 rot="480000">
            <a:off x="914400" y="2167128"/>
            <a:ext cx="201168" cy="201168"/>
          </a:xfrm>
          <a:prstGeom prst="ellipse">
            <a:avLst/>
          </a:prstGeom>
          <a:ln w="22225">
            <a:solidFill>
              <a:srgbClr val="4A3A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325880" y="20574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番号が出たら、カードの数字に穴をあけてね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 rot="480000">
            <a:off x="914400" y="3035808"/>
            <a:ext cx="201168" cy="201168"/>
          </a:xfrm>
          <a:prstGeom prst="ellipse">
            <a:avLst/>
          </a:prstGeom>
          <a:ln w="22225">
            <a:solidFill>
              <a:srgbClr val="4A3A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325880" y="2926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リーチになったら「リーチ！」と大きな声で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 rot="480000">
            <a:off x="914400" y="3904488"/>
            <a:ext cx="201168" cy="201168"/>
          </a:xfrm>
          <a:prstGeom prst="ellipse">
            <a:avLst/>
          </a:prstGeom>
          <a:ln w="22225">
            <a:solidFill>
              <a:srgbClr val="4A3A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325880" y="3794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3A2E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ビンゴになったら前へ。早い人から景品を選べます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 rot="-120000">
            <a:off x="1325880" y="480060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選択制か順位制かを決める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-36000">
            <a:off x="868680" y="1223772"/>
            <a:ext cx="1003808" cy="246126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731520"/>
            <a:ext cx="3657600" cy="820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景品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3566160" y="91440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景品名を埋める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 rot="-90000">
            <a:off x="868680" y="1965960"/>
            <a:ext cx="3291840" cy="178308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7" name="Image 0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90000">
            <a:off x="1965960" y="1783080"/>
            <a:ext cx="1097280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 rot="-90000">
            <a:off x="1097280" y="2240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1st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 rot="-90000">
            <a:off x="109728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景品名を入れる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 rot="72000">
            <a:off x="4617720" y="1965960"/>
            <a:ext cx="3291840" cy="1783080"/>
          </a:xfrm>
          <a:prstGeom prst="rect">
            <a:avLst/>
          </a:prstGeom>
          <a:solidFill>
            <a:srgbClr val="FDE2DF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11" name="Image 1" descr="/tmp/claude-0/-home-user-simple-alarm/ebf6364d-67bc-5598-b4f2-0a7550264f85/scratchpad/assets/tap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28000">
            <a:off x="5715000" y="1783080"/>
            <a:ext cx="1097280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 rot="72000">
            <a:off x="4846320" y="2240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2nd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 rot="72000">
            <a:off x="484632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景品名を入れる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 rot="-90000">
            <a:off x="8366760" y="1965960"/>
            <a:ext cx="3291840" cy="1783080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15" name="Image 2" descr="/tmp/claude-0/-home-user-simple-alarm/ebf6364d-67bc-5598-b4f2-0a7550264f85/scratchpad/assets/tape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90000">
            <a:off x="9464040" y="1783080"/>
            <a:ext cx="1097280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 rot="-90000">
            <a:off x="8595360" y="2240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3rd</a:t>
            </a:r>
            <a:endParaRPr lang="en-US" sz="3000" dirty="0"/>
          </a:p>
        </p:txBody>
      </p:sp>
      <p:sp>
        <p:nvSpPr>
          <p:cNvPr id="17" name="Text 11"/>
          <p:cNvSpPr txBox="1"/>
          <p:nvPr/>
        </p:nvSpPr>
        <p:spPr>
          <a:xfrm rot="-90000">
            <a:off x="859536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景品名を入れる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 rot="72000">
            <a:off x="868680" y="4114800"/>
            <a:ext cx="3291840" cy="1783080"/>
          </a:xfrm>
          <a:prstGeom prst="rect">
            <a:avLst/>
          </a:prstGeom>
          <a:solidFill>
            <a:srgbClr val="DFE9F1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19" name="Image 3" descr="/tmp/claude-0/-home-user-simple-alarm/ebf6364d-67bc-5598-b4f2-0a7550264f85/scratchpad/assets/tape-kra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28000">
            <a:off x="1965960" y="3931920"/>
            <a:ext cx="1097280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 rot="72000">
            <a:off x="1097280" y="4389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4th</a:t>
            </a:r>
            <a:endParaRPr lang="en-US" sz="3000" dirty="0"/>
          </a:p>
        </p:txBody>
      </p:sp>
      <p:sp>
        <p:nvSpPr>
          <p:cNvPr id="21" name="Text 14"/>
          <p:cNvSpPr txBox="1"/>
          <p:nvPr/>
        </p:nvSpPr>
        <p:spPr>
          <a:xfrm rot="72000">
            <a:off x="1097280" y="4983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景品名を入れる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 rot="-90000">
            <a:off x="4617720" y="4114800"/>
            <a:ext cx="3291840" cy="178308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23" name="Image 4" descr="/tmp/claude-0/-home-user-simple-alarm/ebf6364d-67bc-5598-b4f2-0a7550264f85/scratchpad/assets/tape-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90000">
            <a:off x="5715000" y="3931920"/>
            <a:ext cx="1097280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 rot="-90000">
            <a:off x="4846320" y="4389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5th</a:t>
            </a:r>
            <a:endParaRPr lang="en-US" sz="3000" dirty="0"/>
          </a:p>
        </p:txBody>
      </p:sp>
      <p:sp>
        <p:nvSpPr>
          <p:cNvPr id="25" name="Text 17"/>
          <p:cNvSpPr txBox="1"/>
          <p:nvPr/>
        </p:nvSpPr>
        <p:spPr>
          <a:xfrm rot="-90000">
            <a:off x="4846320" y="4983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景品名を入れる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 rot="72000">
            <a:off x="8366760" y="4114800"/>
            <a:ext cx="3291840" cy="1783080"/>
          </a:xfrm>
          <a:prstGeom prst="rect">
            <a:avLst/>
          </a:prstGeom>
          <a:solidFill>
            <a:srgbClr val="E2ECD9"/>
          </a:solidFill>
          <a:ln/>
          <a:effectLst>
            <a:outerShdw sx="100000" sy="100000" kx="0" ky="0" algn="bl" rotWithShape="0" blurRad="76200" dist="25400" dir="3600000">
              <a:srgbClr val="4A3A2E">
                <a:alpha val="18000"/>
              </a:srgbClr>
            </a:outerShdw>
          </a:effectLst>
        </p:spPr>
      </p:sp>
      <p:pic>
        <p:nvPicPr>
          <p:cNvPr id="27" name="Image 5" descr="/tmp/claude-0/-home-user-simple-alarm/ebf6364d-67bc-5598-b4f2-0a7550264f85/scratchpad/assets/tape-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28000">
            <a:off x="9464040" y="3931920"/>
            <a:ext cx="1097280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 rot="72000">
            <a:off x="8595360" y="4389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…</a:t>
            </a:r>
            <a:endParaRPr lang="en-US" sz="3000" dirty="0"/>
          </a:p>
        </p:txBody>
      </p:sp>
      <p:sp>
        <p:nvSpPr>
          <p:cNvPr id="29" name="Text 20"/>
          <p:cNvSpPr txBox="1"/>
          <p:nvPr/>
        </p:nvSpPr>
        <p:spPr>
          <a:xfrm rot="72000">
            <a:off x="8595360" y="4983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参加賞など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1097280" y="1097280"/>
            <a:ext cx="548640" cy="5486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607040" y="118872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 rot="-120000">
            <a:off x="0" y="17373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D6A5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Staff only</a:t>
            </a:r>
            <a:endParaRPr lang="en-US" sz="2600" dirty="0"/>
          </a:p>
        </p:txBody>
      </p:sp>
      <p:sp>
        <p:nvSpPr>
          <p:cNvPr id="6" name="Shape 1"/>
          <p:cNvSpPr/>
          <p:nvPr/>
        </p:nvSpPr>
        <p:spPr>
          <a:xfrm rot="-36000">
            <a:off x="2661768" y="2895600"/>
            <a:ext cx="6868160" cy="259080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0" y="2377440"/>
            <a:ext cx="1219169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ここで抽選アプリに切り替え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抽選が終わったら、このスライドの次に進む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 rot="-120000">
            <a:off x="4541368" y="466344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A9C6D9"/>
          </a:solidFill>
          <a:ln>
            <a:solidFill>
              <a:srgbClr val="A9C6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本番前に非表示にしてもOK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97280" y="5349240"/>
            <a:ext cx="603504" cy="603504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10607040" y="5257800"/>
            <a:ext cx="548640" cy="54864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Closing</a:t>
            </a:r>
            <a:endParaRPr lang="en-US" sz="3000" dirty="0"/>
          </a:p>
        </p:txBody>
      </p:sp>
      <p:sp>
        <p:nvSpPr>
          <p:cNvPr id="7" name="Shape 1"/>
          <p:cNvSpPr/>
          <p:nvPr/>
        </p:nvSpPr>
        <p:spPr>
          <a:xfrm rot="-36000">
            <a:off x="2661768" y="3188208"/>
            <a:ext cx="6868160" cy="336804"/>
          </a:xfrm>
          <a:prstGeom prst="rect">
            <a:avLst/>
          </a:prstGeom>
          <a:solidFill>
            <a:srgbClr val="E6BB55">
              <a:alpha val="52000"/>
            </a:srgbClr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0" y="2514600"/>
            <a:ext cx="12191695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新郎新婦からひとこと</a:t>
            </a:r>
            <a:endParaRPr lang="en-US" sz="5200" dirty="0"/>
          </a:p>
        </p:txBody>
      </p:sp>
      <p:sp>
        <p:nvSpPr>
          <p:cNvPr id="9" name="Text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10" name="Text 4"/>
          <p:cNvSpPr txBox="1"/>
          <p:nvPr/>
        </p:nvSpPr>
        <p:spPr>
          <a:xfrm>
            <a:off x="2377440" y="4754880"/>
            <a:ext cx="7406640" cy="777240"/>
          </a:xfrm>
          <a:prstGeom prst="roundRect">
            <a:avLst>
              <a:gd name="adj" fmla="val 7059"/>
            </a:avLst>
          </a:prstGeom>
          <a:solidFill>
            <a:srgbClr val="FFFDF7"/>
          </a:solidFill>
          <a:ln w="15875">
            <a:solidFill>
              <a:srgbClr val="A9C6D9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挨拶の順番（新郎→新婦、または連名）と、写真撮影の案内をここに書く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user-simple-alarm/ebf6364d-67bc-5598-b4f2-0a7550264f85/scratchpad/assets/garl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  <p:pic>
        <p:nvPicPr>
          <p:cNvPr id="4" name="Image 1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1051560" y="5349240"/>
            <a:ext cx="640080" cy="640080"/>
          </a:xfrm>
          <a:prstGeom prst="rect">
            <a:avLst/>
          </a:prstGeom>
        </p:spPr>
      </p:pic>
      <p:pic>
        <p:nvPicPr>
          <p:cNvPr id="5" name="Image 2" descr="/tmp/claude-0/-home-user-simple-alarm/ebf6364d-67bc-5598-b4f2-0a7550264f85/scratchpad/asset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00000">
            <a:off x="10607040" y="5212080"/>
            <a:ext cx="566928" cy="566928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 rot="-120000">
            <a:off x="0" y="1691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4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Thank you!!</a:t>
            </a:r>
            <a:endParaRPr lang="en-US" sz="3400" dirty="0"/>
          </a:p>
        </p:txBody>
      </p:sp>
      <p:sp>
        <p:nvSpPr>
          <p:cNvPr id="7" name="Text 1"/>
          <p:cNvSpPr txBox="1"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新郎</a:t>
            </a:r>
            <a:pPr algn="ctr" indent="0" marL="0">
              <a:buNone/>
            </a:pPr>
            <a:r>
              <a:rPr lang="en-US" sz="6800" b="1" dirty="0">
                <a:solidFill>
                  <a:srgbClr val="E7A9A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 &amp; </a:t>
            </a:r>
            <a:pPr algn="ctr" indent="0" marL="0">
              <a:buNone/>
            </a:pPr>
            <a:r>
              <a:rPr lang="en-US" sz="54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新婦</a:t>
            </a:r>
            <a:endParaRPr lang="en-US" sz="5400" dirty="0"/>
          </a:p>
        </p:txBody>
      </p:sp>
      <p:sp>
        <p:nvSpPr>
          <p:cNvPr id="8" name="Text 2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3A2E"/>
                </a:solidFill>
                <a:latin typeface="Yusei Magic" pitchFamily="34" charset="0"/>
                <a:ea typeface="Yusei Magic" pitchFamily="34" charset="-122"/>
                <a:cs typeface="Yusei Magic" pitchFamily="34" charset="-120"/>
              </a:rPr>
              <a:t>今日はありがとうございました</a:t>
            </a:r>
            <a:endParaRPr lang="en-US" sz="2600" dirty="0"/>
          </a:p>
        </p:txBody>
      </p:sp>
      <p:sp>
        <p:nvSpPr>
          <p:cNvPr id="9" name="Text 3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6A5A"/>
                </a:solidFill>
                <a:latin typeface="Zen Kurenaido" pitchFamily="34" charset="0"/>
                <a:ea typeface="Zen Kurenaido" pitchFamily="34" charset="-122"/>
                <a:cs typeface="Zen Kurenaido" pitchFamily="34" charset="-120"/>
              </a:rPr>
              <a:t>末永くお幸せに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結婚式2次会</dc:title>
  <dc:subject>PptxGenJS Presentation</dc:subject>
  <dc:creator/>
  <cp:lastModifiedBy/>
  <cp:revision>1</cp:revision>
  <dcterms:created xsi:type="dcterms:W3CDTF">2026-09-13T15:39:13Z</dcterms:created>
  <dcterms:modified xsi:type="dcterms:W3CDTF">2026-09-13T15:39:13Z</dcterms:modified>
</cp:coreProperties>
</file>